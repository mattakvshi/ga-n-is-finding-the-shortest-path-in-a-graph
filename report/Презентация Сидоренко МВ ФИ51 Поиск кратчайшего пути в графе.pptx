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54" autoAdjust="0"/>
  </p:normalViewPr>
  <p:slideViewPr>
    <p:cSldViewPr snapToGrid="0" snapToObjects="1">
      <p:cViewPr varScale="1">
        <p:scale>
          <a:sx n="155" d="100"/>
          <a:sy n="155" d="100"/>
        </p:scale>
        <p:origin x="49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118F5-9C1B-4D65-A7FC-9645814C9020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C565-3A1F-43F1-A91D-CF2D0D35E8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01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1C565-3A1F-43F1-A91D-CF2D0D35E8C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05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94360"/>
            <a:ext cx="3383280" cy="347472"/>
          </a:xfrm>
          <a:prstGeom prst="roundRect">
            <a:avLst/>
          </a:prstGeom>
          <a:solidFill>
            <a:srgbClr val="46F0C2"/>
          </a:solidFill>
          <a:ln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ВАРИАНТ 3 · ПОИСК КРАТЧАЙШЕГО ПУТИ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6309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 dirty="0" err="1">
                <a:solidFill>
                  <a:srgbClr val="F7FAFC"/>
                </a:solidFill>
                <a:latin typeface="Segoe UI"/>
              </a:rPr>
              <a:t>Искусственная</a:t>
            </a:r>
            <a:r>
              <a:rPr sz="4300" b="1" dirty="0">
                <a:solidFill>
                  <a:srgbClr val="F7FAFC"/>
                </a:solidFill>
                <a:latin typeface="Segoe UI"/>
              </a:rPr>
              <a:t>
</a:t>
            </a:r>
            <a:r>
              <a:rPr sz="4300" b="1" dirty="0" err="1">
                <a:solidFill>
                  <a:srgbClr val="F7FAFC"/>
                </a:solidFill>
                <a:latin typeface="Segoe UI"/>
              </a:rPr>
              <a:t>иммунная</a:t>
            </a:r>
            <a:r>
              <a:rPr sz="43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4300" b="1" dirty="0" err="1">
                <a:solidFill>
                  <a:srgbClr val="F7FAFC"/>
                </a:solidFill>
                <a:latin typeface="Segoe UI"/>
              </a:rPr>
              <a:t>сеть</a:t>
            </a:r>
            <a:endParaRPr sz="43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0372" y="2324267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FB3C8"/>
                </a:solidFill>
                <a:latin typeface="Segoe UI"/>
              </a:rPr>
              <a:t>для поиска кратчайшего пути во взвешенном графе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1624" y="73152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00D5FF"/>
                </a:solidFill>
                <a:latin typeface="Segoe UI"/>
              </a:rPr>
              <a:t>Генетические</a:t>
            </a:r>
            <a:r>
              <a:rPr sz="1300" b="0" dirty="0">
                <a:solidFill>
                  <a:srgbClr val="00D5F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00D5FF"/>
                </a:solidFill>
                <a:latin typeface="Segoe UI"/>
              </a:rPr>
              <a:t>алгоритмы</a:t>
            </a:r>
            <a:r>
              <a:rPr sz="1300" b="0" dirty="0">
                <a:solidFill>
                  <a:srgbClr val="00D5FF"/>
                </a:solidFill>
                <a:latin typeface="Segoe UI"/>
              </a:rPr>
              <a:t> и </a:t>
            </a:r>
            <a:r>
              <a:rPr sz="1300" b="0" dirty="0" err="1">
                <a:solidFill>
                  <a:srgbClr val="00D5FF"/>
                </a:solidFill>
                <a:latin typeface="Segoe UI"/>
              </a:rPr>
              <a:t>иммунные</a:t>
            </a:r>
            <a:r>
              <a:rPr sz="1300" b="0" dirty="0">
                <a:solidFill>
                  <a:srgbClr val="00D5FF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00D5FF"/>
                </a:solidFill>
                <a:latin typeface="Segoe UI"/>
              </a:rPr>
              <a:t>системы</a:t>
            </a:r>
            <a:endParaRPr sz="1300" b="0" dirty="0">
              <a:solidFill>
                <a:srgbClr val="00D5FF"/>
              </a:solidFill>
              <a:latin typeface="Segoe UI"/>
            </a:endParaRPr>
          </a:p>
        </p:txBody>
      </p:sp>
      <p:cxnSp>
        <p:nvCxnSpPr>
          <p:cNvPr id="13" name="Connector 12"/>
          <p:cNvCxnSpPr/>
          <p:nvPr/>
        </p:nvCxnSpPr>
        <p:spPr>
          <a:xfrm flipV="1">
            <a:off x="8055864" y="1243584"/>
            <a:ext cx="1463040" cy="22860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18904" y="1243584"/>
            <a:ext cx="1097280" cy="96012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55864" y="1472184"/>
            <a:ext cx="731520" cy="187452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87384" y="3346704"/>
            <a:ext cx="1920240" cy="86868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690104" y="4215384"/>
            <a:ext cx="3017520" cy="82296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616184" y="2203704"/>
            <a:ext cx="91440" cy="201168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690104" y="3346704"/>
            <a:ext cx="1097280" cy="169164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5138928"/>
            <a:ext cx="3977639" cy="841248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28523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7FAFC"/>
                </a:solidFill>
                <a:latin typeface="Segoe UI"/>
              </a:rPr>
              <a:t>Сидоренко Максим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641848"/>
            <a:ext cx="3474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1100" b="0" dirty="0">
                <a:solidFill>
                  <a:srgbClr val="9FB3C8"/>
                </a:solidFill>
                <a:latin typeface="Segoe UI"/>
              </a:rPr>
              <a:t>· </a:t>
            </a:r>
            <a:r>
              <a:rPr sz="1100" b="0" dirty="0">
                <a:solidFill>
                  <a:srgbClr val="9FB3C8"/>
                </a:solidFill>
                <a:latin typeface="Segoe UI"/>
              </a:rPr>
              <a:t>Ф</a:t>
            </a:r>
            <a:r>
              <a:rPr lang="ru-RU" sz="1100" b="0" dirty="0">
                <a:solidFill>
                  <a:srgbClr val="9FB3C8"/>
                </a:solidFill>
                <a:latin typeface="Segoe UI"/>
              </a:rPr>
              <a:t>И51</a:t>
            </a:r>
            <a:r>
              <a:rPr sz="1100" b="0" dirty="0">
                <a:solidFill>
                  <a:srgbClr val="9FB3C8"/>
                </a:solidFill>
                <a:latin typeface="Segoe UI"/>
              </a:rPr>
              <a:t> · 2026</a:t>
            </a:r>
            <a:r>
              <a:rPr lang="ru-RU" sz="1100" b="0" dirty="0">
                <a:solidFill>
                  <a:srgbClr val="9FB3C8"/>
                </a:solidFill>
                <a:latin typeface="Segoe UI"/>
              </a:rPr>
              <a:t> ·</a:t>
            </a:r>
            <a:endParaRPr sz="1100" b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1097280"/>
            <a:ext cx="749808" cy="74980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868680"/>
            <a:ext cx="749808" cy="74980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rPr dirty="0"/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971800"/>
            <a:ext cx="749808" cy="74980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10241280" y="1828800"/>
            <a:ext cx="749808" cy="74980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0332720" y="3840480"/>
            <a:ext cx="749808" cy="74980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4663440"/>
            <a:ext cx="749808" cy="74980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rPr lang="ru-RU" dirty="0"/>
              <a:t>В результате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3000" b="1" dirty="0">
                <a:solidFill>
                  <a:srgbClr val="F7FAFC"/>
                </a:solidFill>
                <a:latin typeface="Segoe UI"/>
              </a:rPr>
              <a:t>Было реализовано</a:t>
            </a:r>
            <a:r>
              <a:rPr lang="en-US" sz="3000" b="1" dirty="0">
                <a:solidFill>
                  <a:srgbClr val="F7FAFC"/>
                </a:solidFill>
                <a:latin typeface="Segoe UI"/>
              </a:rPr>
              <a:t>: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0D5FF"/>
                </a:solidFill>
                <a:latin typeface="Segoe UI"/>
              </a:rPr>
              <a:t>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алгоритм по варианту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8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6F0C2"/>
                </a:solidFill>
                <a:latin typeface="Segoe UI"/>
              </a:rPr>
              <a:t>0.00%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 err="1">
                <a:solidFill>
                  <a:srgbClr val="9FB3C8"/>
                </a:solidFill>
                <a:latin typeface="Segoe UI"/>
              </a:rPr>
              <a:t>отклонение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от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Дейкстры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на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тестах</a:t>
            </a:r>
            <a:endParaRPr sz="1200" b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2764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тестовых размерности графа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965960"/>
            <a:ext cx="2331720" cy="12344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5168" y="213055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GUI-like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679191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визуализация пути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5394960" cy="19659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0600" y="386778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F7FAFC"/>
                </a:solidFill>
                <a:latin typeface="Segoe UI"/>
              </a:rPr>
              <a:t>Комплект</a:t>
            </a:r>
            <a:r>
              <a:rPr sz="2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2000" b="1" dirty="0" err="1">
                <a:solidFill>
                  <a:srgbClr val="F7FAFC"/>
                </a:solidFill>
                <a:latin typeface="Segoe UI"/>
              </a:rPr>
              <a:t>проекта</a:t>
            </a:r>
            <a:endParaRPr sz="2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8992" y="44348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main.py — </a:t>
            </a:r>
            <a:r>
              <a:rPr dirty="0" err="1"/>
              <a:t>демонстрационный</a:t>
            </a:r>
            <a:r>
              <a:rPr dirty="0"/>
              <a:t> </a:t>
            </a:r>
            <a:r>
              <a:rPr dirty="0" err="1"/>
              <a:t>запуск</a:t>
            </a:r>
            <a:endParaRPr dirty="0"/>
          </a:p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src/immune_network.py — </a:t>
            </a:r>
            <a:r>
              <a:rPr dirty="0" err="1"/>
              <a:t>реализация</a:t>
            </a:r>
            <a:r>
              <a:rPr dirty="0"/>
              <a:t> ИС</a:t>
            </a:r>
          </a:p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results/*.</a:t>
            </a:r>
            <a:r>
              <a:rPr dirty="0" err="1"/>
              <a:t>png</a:t>
            </a:r>
            <a:r>
              <a:rPr dirty="0"/>
              <a:t> — </a:t>
            </a:r>
            <a:r>
              <a:rPr dirty="0" err="1"/>
              <a:t>графики</a:t>
            </a:r>
            <a:r>
              <a:rPr dirty="0"/>
              <a:t> и </a:t>
            </a:r>
            <a:r>
              <a:rPr dirty="0" err="1"/>
              <a:t>визуализация</a:t>
            </a:r>
            <a:endParaRPr dirty="0"/>
          </a:p>
          <a:p>
            <a:pPr>
              <a:spcAft>
                <a:spcPts val="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report/*.docx — </a:t>
            </a:r>
            <a:r>
              <a:rPr dirty="0" err="1"/>
              <a:t>оформленный</a:t>
            </a:r>
            <a:r>
              <a:rPr dirty="0"/>
              <a:t> </a:t>
            </a:r>
            <a:r>
              <a:rPr dirty="0" err="1"/>
              <a:t>отчёт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537960" y="3703320"/>
            <a:ext cx="4846320" cy="19659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39727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F7FAFC"/>
                </a:solidFill>
                <a:latin typeface="Segoe UI"/>
              </a:rPr>
              <a:t>Критерии</a:t>
            </a:r>
            <a:r>
              <a:rPr sz="2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2000" b="1" dirty="0" err="1">
                <a:solidFill>
                  <a:srgbClr val="F7FAFC"/>
                </a:solidFill>
                <a:latin typeface="Segoe UI"/>
              </a:rPr>
              <a:t>оценки</a:t>
            </a:r>
            <a:endParaRPr sz="2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4373169"/>
            <a:ext cx="425196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5FF"/>
                </a:solidFill>
                <a:latin typeface="Segoe UI"/>
              </a:defRPr>
            </a:pPr>
            <a:r>
              <a:rPr sz="1200" dirty="0" err="1"/>
              <a:t>Время</a:t>
            </a:r>
            <a:r>
              <a:rPr sz="1200" dirty="0"/>
              <a:t> </a:t>
            </a:r>
            <a:r>
              <a:rPr sz="1200" dirty="0" err="1"/>
              <a:t>выполнения</a:t>
            </a:r>
            <a:endParaRPr sz="1200" dirty="0"/>
          </a:p>
          <a:p>
            <a:pPr>
              <a:spcAft>
                <a:spcPts val="800"/>
              </a:spcAft>
              <a:defRPr sz="1400" b="1">
                <a:solidFill>
                  <a:srgbClr val="46F0C2"/>
                </a:solidFill>
                <a:latin typeface="Segoe UI"/>
              </a:defRPr>
            </a:pPr>
            <a:r>
              <a:rPr sz="1200" dirty="0" err="1"/>
              <a:t>Качество</a:t>
            </a:r>
            <a:r>
              <a:rPr sz="1200" dirty="0"/>
              <a:t> </a:t>
            </a:r>
            <a:r>
              <a:rPr sz="1200" dirty="0" err="1"/>
              <a:t>решения</a:t>
            </a:r>
            <a:r>
              <a:rPr sz="1200" dirty="0"/>
              <a:t> </a:t>
            </a:r>
            <a:r>
              <a:rPr sz="1200" dirty="0" err="1"/>
              <a:t>через</a:t>
            </a:r>
            <a:r>
              <a:rPr sz="1200" dirty="0"/>
              <a:t> </a:t>
            </a:r>
            <a:r>
              <a:rPr sz="1200" dirty="0" err="1"/>
              <a:t>сравнение</a:t>
            </a:r>
            <a:r>
              <a:rPr sz="1200" dirty="0"/>
              <a:t> с </a:t>
            </a:r>
            <a:r>
              <a:rPr sz="1200" dirty="0" err="1"/>
              <a:t>Дейкстрой</a:t>
            </a:r>
            <a:endParaRPr sz="1200" dirty="0"/>
          </a:p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rPr sz="1200" dirty="0" err="1"/>
              <a:t>Динамика</a:t>
            </a:r>
            <a:r>
              <a:rPr sz="1200" dirty="0"/>
              <a:t> </a:t>
            </a:r>
            <a:r>
              <a:rPr sz="1200" dirty="0" err="1"/>
              <a:t>целевой</a:t>
            </a:r>
            <a:r>
              <a:rPr sz="1200" dirty="0"/>
              <a:t> </a:t>
            </a:r>
            <a:r>
              <a:rPr sz="1200" dirty="0" err="1"/>
              <a:t>функции</a:t>
            </a:r>
            <a:r>
              <a:rPr sz="1200" dirty="0"/>
              <a:t> </a:t>
            </a:r>
            <a:r>
              <a:rPr sz="1200" dirty="0" err="1"/>
              <a:t>по</a:t>
            </a:r>
            <a:r>
              <a:rPr sz="1200" dirty="0"/>
              <a:t> </a:t>
            </a:r>
            <a:r>
              <a:rPr sz="1200" dirty="0" err="1"/>
              <a:t>итерациям</a:t>
            </a:r>
            <a:endParaRPr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ПОСТАНОВКА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 err="1">
                <a:solidFill>
                  <a:srgbClr val="F7FAFC"/>
                </a:solidFill>
                <a:latin typeface="Segoe UI"/>
              </a:rPr>
              <a:t>Задача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кратчайшего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пути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9FB3C8"/>
                </a:solidFill>
                <a:latin typeface="Segoe UI"/>
              </a:rPr>
              <a:t>Дан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взвешенный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граф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Нужно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найти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путь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минимальной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суммарной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длины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между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стартовой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и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конечной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вершиной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546080" cy="38404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Формальная 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AD27D-11E0-4F96-8340-BBD5C271B249}"/>
              </a:ext>
            </a:extLst>
          </p:cNvPr>
          <p:cNvSpPr txBox="1"/>
          <p:nvPr/>
        </p:nvSpPr>
        <p:spPr>
          <a:xfrm>
            <a:off x="1042416" y="2730102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0D5FF"/>
                </a:solidFill>
                <a:latin typeface="Segoe UI"/>
              </a:defRPr>
            </a:pPr>
            <a:r>
              <a:rPr dirty="0"/>
              <a:t>G = (V, E, w)</a:t>
            </a:r>
          </a:p>
          <a:p>
            <a:pPr>
              <a:spcAft>
                <a:spcPts val="800"/>
              </a:spcAft>
              <a:defRPr sz="17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V — </a:t>
            </a:r>
            <a:r>
              <a:rPr dirty="0" err="1"/>
              <a:t>множество</a:t>
            </a:r>
            <a:r>
              <a:rPr dirty="0"/>
              <a:t> </a:t>
            </a:r>
            <a:r>
              <a:rPr dirty="0" err="1"/>
              <a:t>вершин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E — </a:t>
            </a:r>
            <a:r>
              <a:rPr dirty="0" err="1"/>
              <a:t>множество</a:t>
            </a:r>
            <a:r>
              <a:rPr dirty="0"/>
              <a:t> </a:t>
            </a:r>
            <a:r>
              <a:rPr dirty="0" err="1"/>
              <a:t>рёбер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9FB3C8"/>
                </a:solidFill>
                <a:latin typeface="Segoe UI"/>
              </a:defRPr>
            </a:pPr>
            <a:r>
              <a:rPr dirty="0"/>
              <a:t>w(e) &gt; 0 — </a:t>
            </a:r>
            <a:r>
              <a:rPr dirty="0" err="1"/>
              <a:t>вес</a:t>
            </a:r>
            <a:r>
              <a:rPr dirty="0"/>
              <a:t> </a:t>
            </a:r>
            <a:r>
              <a:rPr dirty="0" err="1"/>
              <a:t>ребра</a:t>
            </a:r>
            <a:endParaRPr dirty="0"/>
          </a:p>
          <a:p>
            <a:pPr>
              <a:spcAft>
                <a:spcPts val="800"/>
              </a:spcAft>
              <a:defRPr sz="1700" b="1">
                <a:solidFill>
                  <a:srgbClr val="46F0C2"/>
                </a:solidFill>
                <a:latin typeface="Segoe UI"/>
              </a:defRPr>
            </a:pPr>
            <a:r>
              <a:rPr dirty="0" err="1"/>
              <a:t>Найти</a:t>
            </a:r>
            <a:r>
              <a:rPr dirty="0"/>
              <a:t>: P* = </a:t>
            </a:r>
            <a:r>
              <a:rPr dirty="0" err="1"/>
              <a:t>arg</a:t>
            </a:r>
            <a:r>
              <a:rPr dirty="0"/>
              <a:t> min Σ w(e)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ИДЕЯ 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Биологическая аналогия → алгоритм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Искусственная иммунная сеть переносит механизмы отбора, клонирования, мутации и памяти в оптимизационную задачу.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2249424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217627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Антиген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6243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задача: граф + start/target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11112" y="2249424"/>
            <a:ext cx="658368" cy="65836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17627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Антитело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6243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кандидат: путь от s к 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4123944"/>
            <a:ext cx="658368" cy="65836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05079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Аффинность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49884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чем короче путь, тем лучше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07492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11112" y="4123944"/>
            <a:ext cx="658368" cy="658368"/>
          </a:xfrm>
          <a:prstGeom prst="ellipse">
            <a:avLst/>
          </a:prstGeom>
          <a:solidFill>
            <a:srgbClr val="FBBF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405079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Память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449884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лучшие найденные маршруты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Пайплайн искусственной иммунной сети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Цикл оптимизации повторяется, пока сеть не стабилизируется или не достигнут лимит итераций.</a:t>
            </a:r>
          </a:p>
        </p:txBody>
      </p:sp>
      <p:sp>
        <p:nvSpPr>
          <p:cNvPr id="6" name="Oval 5"/>
          <p:cNvSpPr/>
          <p:nvPr/>
        </p:nvSpPr>
        <p:spPr>
          <a:xfrm>
            <a:off x="850392" y="2331720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Популяция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случайные пути</a:t>
            </a:r>
          </a:p>
        </p:txBody>
      </p:sp>
      <p:cxnSp>
        <p:nvCxnSpPr>
          <p:cNvPr id="9" name="Connector 8"/>
          <p:cNvCxnSpPr>
            <a:cxnSpLocks/>
            <a:stCxn id="6" idx="6"/>
            <a:endCxn id="10" idx="2"/>
          </p:cNvCxnSpPr>
          <p:nvPr/>
        </p:nvCxnSpPr>
        <p:spPr>
          <a:xfrm>
            <a:off x="1508760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514600" y="2331720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Аффинность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оценка длины</a:t>
            </a:r>
          </a:p>
        </p:txBody>
      </p:sp>
      <p:cxnSp>
        <p:nvCxnSpPr>
          <p:cNvPr id="13" name="Connector 12"/>
          <p:cNvCxnSpPr>
            <a:cxnSpLocks/>
            <a:stCxn id="10" idx="6"/>
            <a:endCxn id="14" idx="2"/>
          </p:cNvCxnSpPr>
          <p:nvPr/>
        </p:nvCxnSpPr>
        <p:spPr>
          <a:xfrm>
            <a:off x="3172968" y="2660904"/>
            <a:ext cx="1005839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78807" y="2331720"/>
            <a:ext cx="658368" cy="658368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Отбор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лучшие антитела</a:t>
            </a:r>
          </a:p>
        </p:txBody>
      </p:sp>
      <p:cxnSp>
        <p:nvCxnSpPr>
          <p:cNvPr id="17" name="Connector 16"/>
          <p:cNvCxnSpPr>
            <a:cxnSpLocks/>
            <a:stCxn id="14" idx="6"/>
            <a:endCxn id="18" idx="2"/>
          </p:cNvCxnSpPr>
          <p:nvPr/>
        </p:nvCxnSpPr>
        <p:spPr>
          <a:xfrm>
            <a:off x="4837175" y="2660904"/>
            <a:ext cx="1005841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43016" y="2331720"/>
            <a:ext cx="658368" cy="65836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Клоны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2976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копии лучших</a:t>
            </a:r>
          </a:p>
        </p:txBody>
      </p:sp>
      <p:cxnSp>
        <p:nvCxnSpPr>
          <p:cNvPr id="21" name="Connector 20"/>
          <p:cNvCxnSpPr>
            <a:cxnSpLocks/>
            <a:stCxn id="18" idx="6"/>
            <a:endCxn id="22" idx="2"/>
          </p:cNvCxnSpPr>
          <p:nvPr/>
        </p:nvCxnSpPr>
        <p:spPr>
          <a:xfrm>
            <a:off x="6501384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07224" y="2331720"/>
            <a:ext cx="658368" cy="658368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Гипермутация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перестройка пути</a:t>
            </a:r>
          </a:p>
        </p:txBody>
      </p:sp>
      <p:cxnSp>
        <p:nvCxnSpPr>
          <p:cNvPr id="25" name="Connector 24"/>
          <p:cNvCxnSpPr>
            <a:cxnSpLocks/>
            <a:stCxn id="22" idx="6"/>
            <a:endCxn id="26" idx="2"/>
          </p:cNvCxnSpPr>
          <p:nvPr/>
        </p:nvCxnSpPr>
        <p:spPr>
          <a:xfrm>
            <a:off x="8165592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71432" y="2331720"/>
            <a:ext cx="658368" cy="65836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Супрессия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474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Segoe UI"/>
              </a:rPr>
              <a:t>убрать похожие</a:t>
            </a:r>
          </a:p>
        </p:txBody>
      </p:sp>
      <p:cxnSp>
        <p:nvCxnSpPr>
          <p:cNvPr id="29" name="Connector 28"/>
          <p:cNvCxnSpPr>
            <a:cxnSpLocks/>
            <a:stCxn id="26" idx="6"/>
            <a:endCxn id="30" idx="2"/>
          </p:cNvCxnSpPr>
          <p:nvPr/>
        </p:nvCxnSpPr>
        <p:spPr>
          <a:xfrm>
            <a:off x="9829800" y="2660904"/>
            <a:ext cx="1005840" cy="0"/>
          </a:xfrm>
          <a:prstGeom prst="line">
            <a:avLst/>
          </a:prstGeom>
          <a:ln w="254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835640" y="2331720"/>
            <a:ext cx="658368" cy="658368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15468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FAFC"/>
                </a:solidFill>
                <a:latin typeface="Segoe UI"/>
              </a:rPr>
              <a:t>Память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474720"/>
            <a:ext cx="14173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ru-RU" sz="1000" dirty="0">
                <a:solidFill>
                  <a:srgbClr val="9FB3C8"/>
                </a:solidFill>
                <a:latin typeface="Segoe UI"/>
              </a:rPr>
              <a:t>с</a:t>
            </a:r>
            <a:r>
              <a:rPr sz="1000" b="0" dirty="0" err="1">
                <a:solidFill>
                  <a:srgbClr val="9FB3C8"/>
                </a:solidFill>
                <a:latin typeface="Segoe UI"/>
              </a:rPr>
              <a:t>охранить</a:t>
            </a:r>
            <a:r>
              <a:rPr lang="ru-RU" sz="1000" dirty="0">
                <a:solidFill>
                  <a:srgbClr val="9FB3C8"/>
                </a:solidFill>
                <a:latin typeface="Segoe UI"/>
              </a:rPr>
              <a:t> лучшие</a:t>
            </a:r>
            <a:endParaRPr sz="1000" b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4400" y="4617720"/>
            <a:ext cx="10287000" cy="10515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07008" y="48280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D5FF"/>
                </a:solidFill>
                <a:latin typeface="Segoe UI"/>
              </a:rPr>
              <a:t>Ключевой принцип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837176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7FAFC"/>
                </a:solidFill>
                <a:latin typeface="Segoe UI"/>
              </a:rPr>
              <a:t>хорошие пути размножаются, плохие исчезают, а память сохраняет лучшие найденные маршруты.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КОДИРОВАНИЕ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Как путь становится антителом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9FB3C8"/>
                </a:solidFill>
                <a:latin typeface="Segoe UI"/>
              </a:rPr>
              <a:t>Решение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представляется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последовательностью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вершин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графа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2633472"/>
            <a:ext cx="1097280" cy="0"/>
          </a:xfrm>
          <a:prstGeom prst="line">
            <a:avLst/>
          </a:prstGeom>
          <a:ln w="381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21408" y="225856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FB3C8"/>
                </a:solidFill>
                <a:latin typeface="Segoe UI"/>
              </a:rPr>
              <a:t>w</a:t>
            </a:r>
          </a:p>
        </p:txBody>
      </p:sp>
      <p:sp>
        <p:nvSpPr>
          <p:cNvPr id="9" name="Oval 8"/>
          <p:cNvSpPr/>
          <p:nvPr/>
        </p:nvSpPr>
        <p:spPr>
          <a:xfrm>
            <a:off x="2880360" y="2194560"/>
            <a:ext cx="868680" cy="868680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633472"/>
            <a:ext cx="1097281" cy="0"/>
          </a:xfrm>
          <a:prstGeom prst="line">
            <a:avLst/>
          </a:prstGeom>
          <a:ln w="38100">
            <a:solidFill>
              <a:srgbClr val="00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87368" y="225856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FB3C8"/>
                </a:solidFill>
                <a:latin typeface="Segoe UI"/>
              </a:rPr>
              <a:t>w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194560"/>
            <a:ext cx="868680" cy="868680"/>
          </a:xfrm>
          <a:prstGeom prst="ellipse">
            <a:avLst/>
          </a:prstGeom>
          <a:solidFill>
            <a:srgbClr val="8B5CF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965960"/>
            <a:ext cx="4251960" cy="146304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240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6F0C2"/>
                </a:solidFill>
                <a:latin typeface="Segoe UI"/>
              </a:rPr>
              <a:t>F(P) =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27889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целевая функция = сумма весов рёбер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80"/>
            <a:ext cx="516636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315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Мутация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47365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заменяет участок пути, перестраивает хвост или делает shortcut через Дейкстру для локального ремонта.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69080"/>
            <a:ext cx="4983480" cy="14173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431596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Ремонт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3659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если после мутации путь некорректен, отсутствующий участок достраивается допустимым маршрутом.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Архитектура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476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graph_model.py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6771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модель графа, генерация, проверка пути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9476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immune_network.py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26771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ядро ИС: клоны, мутация, супрессия, память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1821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dijkstra_baseline.py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50215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эталон для проверки качества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01752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31821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experiments.py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50215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серия запусков и CSV-таблица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4165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visualization.py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73659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графики и визуализация пути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51960"/>
            <a:ext cx="4937760" cy="96012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9672" y="44165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D5FF"/>
                </a:solidFill>
                <a:latin typeface="Segoe UI"/>
              </a:rPr>
              <a:t>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736592"/>
            <a:ext cx="4251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8"/>
                </a:solidFill>
                <a:latin typeface="Segoe UI"/>
              </a:rPr>
              <a:t>демонстрационный запуск проекта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10287000" cy="5029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797296"/>
            <a:ext cx="9875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F7FAFC"/>
                </a:solidFill>
                <a:latin typeface="Segoe UI"/>
              </a:rPr>
              <a:t>Стек</a:t>
            </a:r>
            <a:r>
              <a:rPr sz="1400" b="1" dirty="0">
                <a:solidFill>
                  <a:srgbClr val="F7FAFC"/>
                </a:solidFill>
                <a:latin typeface="Segoe UI"/>
              </a:rPr>
              <a:t>: Python · </a:t>
            </a:r>
            <a:r>
              <a:rPr sz="1400" b="1" dirty="0" err="1">
                <a:solidFill>
                  <a:srgbClr val="F7FAFC"/>
                </a:solidFill>
                <a:latin typeface="Segoe UI"/>
              </a:rPr>
              <a:t>NetworkX</a:t>
            </a:r>
            <a:r>
              <a:rPr sz="1400" b="1" dirty="0">
                <a:solidFill>
                  <a:srgbClr val="F7FAFC"/>
                </a:solidFill>
                <a:latin typeface="Segoe UI"/>
              </a:rPr>
              <a:t> · Matplotlib · JSON/CSV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Визуализация найденного пути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На графе подсвечен маршрут, найденный искусственной иммунной сетью.</a:t>
            </a:r>
          </a:p>
        </p:txBody>
      </p:sp>
      <p:pic>
        <p:nvPicPr>
          <p:cNvPr id="6" name="Picture 5" descr="graph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75895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600200"/>
            <a:ext cx="2788920" cy="42519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87968" y="187451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7FAFC"/>
                </a:solidFill>
                <a:latin typeface="Segoe UI"/>
              </a:rPr>
              <a:t>Результат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468880"/>
            <a:ext cx="2148840" cy="9601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263347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6F0C2"/>
                </a:solidFill>
                <a:latin typeface="Segoe U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3182112"/>
            <a:ext cx="1819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длина пути ИС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566160"/>
            <a:ext cx="2148840" cy="9601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37307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Segoe U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4279392"/>
            <a:ext cx="1819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длина Дейкстры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663440"/>
            <a:ext cx="2148840" cy="96012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4828031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0D5FF"/>
                </a:solidFill>
                <a:latin typeface="Segoe UI"/>
              </a:rPr>
              <a:t>0.00%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5376672"/>
            <a:ext cx="1819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Segoe UI"/>
              </a:rPr>
              <a:t>отклонение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ЭКСПЕРИМЕНТЫ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Методика оценки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Алгоритм проверялся на графах разной размерности и сравнивался с эталонным решением.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11480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Что измеряем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06040"/>
            <a:ext cx="44805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D5FF"/>
                </a:solidFill>
                <a:latin typeface="Segoe UI"/>
              </a:defRPr>
            </a:pPr>
            <a:r>
              <a:t>Время выполнения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как растёт время при увеличении графа</a:t>
            </a:r>
          </a:p>
          <a:p>
            <a:pPr>
              <a:spcAft>
                <a:spcPts val="800"/>
              </a:spcAft>
              <a:defRPr sz="1400" b="1">
                <a:solidFill>
                  <a:srgbClr val="46F0C2"/>
                </a:solidFill>
                <a:latin typeface="Segoe UI"/>
              </a:defRPr>
            </a:pPr>
            <a:r>
              <a:t>Качество решения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длина пути и отклонение от Дейкстры</a:t>
            </a:r>
          </a:p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  <a:latin typeface="Segoe UI"/>
              </a:defRPr>
            </a:pPr>
            <a:r>
              <a:t>Сходимость</a:t>
            </a:r>
          </a:p>
          <a:p>
            <a:pPr>
              <a:spcAft>
                <a:spcPts val="800"/>
              </a:spcAft>
              <a:defRPr sz="1400" b="0">
                <a:solidFill>
                  <a:srgbClr val="9FB3C8"/>
                </a:solidFill>
                <a:latin typeface="Segoe UI"/>
              </a:defRPr>
            </a:pPr>
            <a:r>
              <a:t>значение целевой функции по итерациям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074920" cy="411480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7FAFC"/>
                </a:solidFill>
                <a:latin typeface="Segoe UI"/>
              </a:rPr>
              <a:t>Набор тестов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06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D5FF"/>
                </a:solidFill>
                <a:latin typeface="Segoe UI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06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D5FF"/>
                </a:solidFill>
                <a:latin typeface="Segoe UI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606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D5FF"/>
                </a:solidFill>
                <a:latin typeface="Segoe UI"/>
              </a:rPr>
              <a:t>итерации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971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71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9718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474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474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9776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9776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7FAFC"/>
                </a:solidFill>
                <a:latin typeface="Segoe UI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52578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FB3C8"/>
                </a:solidFill>
                <a:latin typeface="Segoe UI"/>
              </a:rPr>
              <a:t>Каждый запуск сохраняет CSV и графики в папку results/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 err="1">
                <a:solidFill>
                  <a:srgbClr val="F7FAFC"/>
                </a:solidFill>
                <a:latin typeface="Segoe UI"/>
              </a:rPr>
              <a:t>Сравнение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с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эталонным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решением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Дейкстра используется как объективная нижняя граница для длины кратчайшего пути.</a:t>
            </a:r>
          </a:p>
        </p:txBody>
      </p:sp>
      <p:pic>
        <p:nvPicPr>
          <p:cNvPr id="6" name="Picture 5" descr="resul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606" y="1856232"/>
            <a:ext cx="8238788" cy="3621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897880"/>
            <a:ext cx="10378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7FAFC"/>
                </a:solidFill>
                <a:latin typeface="Segoe UI"/>
              </a:rPr>
              <a:t>Вывод: на тестовой серии ИС нашла решения, совпадающие с эталоном. Это подтверждает корректность адаптации иммунного подхода к задаче кратчайшего пути.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ПРОИЗВОДИТЕЛЬНОСТЬ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Время выполнения растёт контролируемо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08767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9FB3C8"/>
                </a:solidFill>
                <a:latin typeface="Segoe UI"/>
              </a:rPr>
              <a:t>График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показывает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зависимость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среднего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времени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работы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ИС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от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количества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вершин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</a:t>
            </a:r>
          </a:p>
        </p:txBody>
      </p:sp>
      <p:pic>
        <p:nvPicPr>
          <p:cNvPr id="6" name="Picture 5" descr="chart_tim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68" y="2576384"/>
            <a:ext cx="5759897" cy="32804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76365" y="2431323"/>
            <a:ext cx="3683549" cy="3611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0686" y="2705643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F7FAFC"/>
                </a:solidFill>
                <a:latin typeface="Segoe UI"/>
              </a:rPr>
              <a:t>Интерпретация</a:t>
            </a:r>
            <a:endParaRPr sz="2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59830" y="3309147"/>
            <a:ext cx="3220912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rPr lang="ru-RU" dirty="0"/>
              <a:t>- </a:t>
            </a:r>
            <a:r>
              <a:rPr dirty="0" err="1"/>
              <a:t>увеличение</a:t>
            </a:r>
            <a:r>
              <a:rPr dirty="0"/>
              <a:t> </a:t>
            </a:r>
            <a:r>
              <a:rPr dirty="0" err="1"/>
              <a:t>размера</a:t>
            </a:r>
            <a:r>
              <a:rPr dirty="0"/>
              <a:t> </a:t>
            </a:r>
            <a:r>
              <a:rPr dirty="0" err="1"/>
              <a:t>графа</a:t>
            </a:r>
            <a:r>
              <a:rPr dirty="0"/>
              <a:t>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;</a:t>
            </a:r>
          </a:p>
          <a:p>
            <a:pPr>
              <a:spcAft>
                <a:spcPts val="9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rPr lang="ru-RU" dirty="0"/>
              <a:t>-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ожидаем</a:t>
            </a:r>
            <a:r>
              <a:rPr dirty="0"/>
              <a:t>,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увеличиваются</a:t>
            </a:r>
            <a:r>
              <a:rPr dirty="0"/>
              <a:t> </a:t>
            </a:r>
            <a:r>
              <a:rPr dirty="0" err="1"/>
              <a:t>длина</a:t>
            </a:r>
            <a:r>
              <a:rPr dirty="0"/>
              <a:t> </a:t>
            </a:r>
            <a:r>
              <a:rPr dirty="0" err="1"/>
              <a:t>путей</a:t>
            </a:r>
            <a:r>
              <a:rPr dirty="0"/>
              <a:t> и </a:t>
            </a:r>
            <a:r>
              <a:rPr dirty="0" err="1"/>
              <a:t>пространство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;</a:t>
            </a:r>
          </a:p>
          <a:p>
            <a:pPr>
              <a:spcAft>
                <a:spcPts val="9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rPr lang="ru-RU" dirty="0"/>
              <a:t>-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</a:t>
            </a:r>
            <a:r>
              <a:rPr dirty="0" err="1"/>
              <a:t>приемлемым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59830" y="4957607"/>
            <a:ext cx="1560660" cy="704829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24918" y="5021823"/>
            <a:ext cx="125272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dirty="0">
                <a:solidFill>
                  <a:srgbClr val="00D5FF"/>
                </a:solidFill>
                <a:latin typeface="Segoe UI"/>
              </a:rPr>
              <a:t>0.55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7644" y="5141437"/>
            <a:ext cx="2002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 err="1">
                <a:solidFill>
                  <a:srgbClr val="9FB3C8"/>
                </a:solidFill>
                <a:latin typeface="Segoe UI"/>
              </a:rPr>
              <a:t>на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крупнейшем</a:t>
            </a:r>
            <a:r>
              <a:rPr sz="12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9FB3C8"/>
                </a:solidFill>
                <a:latin typeface="Segoe UI"/>
              </a:rPr>
              <a:t>тесте</a:t>
            </a:r>
            <a:endParaRPr sz="1200" b="0" dirty="0">
              <a:solidFill>
                <a:srgbClr val="9FB3C8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СХОДИМОСТЬ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FAFC"/>
                </a:solidFill>
                <a:latin typeface="Segoe UI"/>
              </a:rPr>
              <a:t>Целевая функция по итерациям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3C8"/>
                </a:solidFill>
                <a:latin typeface="Segoe UI"/>
              </a:rPr>
              <a:t>История лучшего решения показывает, как сеть постепенно приближается к кратчайшему пути.</a:t>
            </a:r>
          </a:p>
        </p:txBody>
      </p:sp>
      <p:pic>
        <p:nvPicPr>
          <p:cNvPr id="6" name="Picture 5" descr="chart_objectiv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65" y="2002536"/>
            <a:ext cx="69037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737360"/>
            <a:ext cx="3246120" cy="3611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2011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FAFC"/>
                </a:solidFill>
                <a:latin typeface="Segoe UI"/>
              </a:rPr>
              <a:t>Что видно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2596896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D5FF"/>
                </a:solidFill>
                <a:latin typeface="Segoe UI"/>
              </a:defRPr>
            </a:pPr>
            <a:r>
              <a:t>ранние итерации</a:t>
            </a:r>
          </a:p>
          <a:p>
            <a:pPr>
              <a:spcAft>
                <a:spcPts val="7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поиск разнообразных путей</a:t>
            </a:r>
          </a:p>
          <a:p>
            <a:pPr>
              <a:spcAft>
                <a:spcPts val="700"/>
              </a:spcAft>
              <a:defRPr sz="1300" b="1">
                <a:solidFill>
                  <a:srgbClr val="46F0C2"/>
                </a:solidFill>
                <a:latin typeface="Segoe UI"/>
              </a:defRPr>
            </a:pPr>
            <a:r>
              <a:t>середина</a:t>
            </a:r>
          </a:p>
          <a:p>
            <a:pPr>
              <a:spcAft>
                <a:spcPts val="7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улучшение через клоны и мутации</a:t>
            </a:r>
          </a:p>
          <a:p>
            <a:pPr>
              <a:spcAft>
                <a:spcPts val="7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финал</a:t>
            </a:r>
          </a:p>
          <a:p>
            <a:pPr>
              <a:spcAft>
                <a:spcPts val="700"/>
              </a:spcAft>
              <a:defRPr sz="1300" b="0">
                <a:solidFill>
                  <a:srgbClr val="9FB3C8"/>
                </a:solidFill>
                <a:latin typeface="Segoe UI"/>
              </a:defRPr>
            </a:pPr>
            <a:r>
              <a:t>стабилизация в иммунной памяти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ИНТЕГРАЦИЯ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3000" b="1" dirty="0">
                <a:solidFill>
                  <a:srgbClr val="F7FAFC"/>
                </a:solidFill>
                <a:latin typeface="Segoe UI"/>
              </a:rPr>
              <a:t>Тут сравнение с ГА будет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4548" y="1729946"/>
            <a:ext cx="5367775" cy="4173124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39027" y="1729946"/>
            <a:ext cx="5532121" cy="4077730"/>
          </a:xfrm>
          <a:prstGeom prst="roundRect">
            <a:avLst/>
          </a:prstGeom>
          <a:solidFill>
            <a:srgbClr val="17243C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66928" y="384048"/>
            <a:ext cx="1965960" cy="310896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 err="1">
                <a:solidFill>
                  <a:srgbClr val="F7FAFC"/>
                </a:solidFill>
                <a:latin typeface="Segoe UI"/>
              </a:rPr>
              <a:t>Что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доказала</a:t>
            </a:r>
            <a:r>
              <a:rPr sz="3000" b="1" dirty="0">
                <a:solidFill>
                  <a:srgbClr val="F7FAFC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F7FAFC"/>
                </a:solidFill>
                <a:latin typeface="Segoe UI"/>
              </a:rPr>
              <a:t>работа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9FB3C8"/>
                </a:solidFill>
                <a:latin typeface="Segoe UI"/>
              </a:rPr>
              <a:t>ИС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успешно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адаптирована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к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задаче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кратчайшего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пути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и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показала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корректные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результаты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на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серии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FB3C8"/>
                </a:solidFill>
                <a:latin typeface="Segoe UI"/>
              </a:rPr>
              <a:t>графов</a:t>
            </a:r>
            <a:r>
              <a:rPr sz="1400" b="0" dirty="0">
                <a:solidFill>
                  <a:srgbClr val="9FB3C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3271" y="2093976"/>
            <a:ext cx="685800" cy="685800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391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Модель ИС применима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4963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путь естественно кодируется как антитело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65392" y="2093976"/>
            <a:ext cx="685800" cy="685800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20391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Качество проверяемо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4963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результаты сравниваются с Дейкстрой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3271" y="3922776"/>
            <a:ext cx="685800" cy="685800"/>
          </a:xfrm>
          <a:prstGeom prst="ellipse">
            <a:avLst/>
          </a:prstGeom>
          <a:solidFill>
            <a:srgbClr val="00D5FF"/>
          </a:solidFill>
          <a:ln w="15240"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38679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Есть визуальная часть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7" y="43251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3C8"/>
                </a:solidFill>
                <a:latin typeface="Segoe UI"/>
              </a:rPr>
              <a:t>граф и найденный маршрут отображаются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611880"/>
            <a:ext cx="5074920" cy="13258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65392" y="3922776"/>
            <a:ext cx="685800" cy="685800"/>
          </a:xfrm>
          <a:prstGeom prst="ellipse">
            <a:avLst/>
          </a:prstGeom>
          <a:solidFill>
            <a:srgbClr val="46F0C2"/>
          </a:solidFill>
          <a:ln w="15240">
            <a:solidFill>
              <a:srgbClr val="46F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7111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86791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7FAFC"/>
                </a:solidFill>
                <a:latin typeface="Segoe UI"/>
              </a:rPr>
              <a:t>Проект сдаваемый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4325112"/>
            <a:ext cx="3657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9FB3C8"/>
                </a:solidFill>
                <a:latin typeface="Segoe UI"/>
              </a:rPr>
              <a:t>код</a:t>
            </a:r>
            <a:r>
              <a:rPr sz="1300" b="0" dirty="0">
                <a:solidFill>
                  <a:srgbClr val="9FB3C8"/>
                </a:solidFill>
                <a:latin typeface="Segoe UI"/>
              </a:rPr>
              <a:t>, </a:t>
            </a:r>
            <a:r>
              <a:rPr sz="1300" b="0" dirty="0" err="1">
                <a:solidFill>
                  <a:srgbClr val="9FB3C8"/>
                </a:solidFill>
                <a:latin typeface="Segoe UI"/>
              </a:rPr>
              <a:t>графики</a:t>
            </a:r>
            <a:r>
              <a:rPr sz="1300" b="0" dirty="0">
                <a:solidFill>
                  <a:srgbClr val="9FB3C8"/>
                </a:solidFill>
                <a:latin typeface="Segoe UI"/>
              </a:rPr>
              <a:t>, </a:t>
            </a:r>
            <a:r>
              <a:rPr sz="1300" b="0" dirty="0" err="1">
                <a:solidFill>
                  <a:srgbClr val="9FB3C8"/>
                </a:solidFill>
                <a:latin typeface="Segoe UI"/>
              </a:rPr>
              <a:t>отчёт</a:t>
            </a:r>
            <a:r>
              <a:rPr sz="1300" b="0" dirty="0">
                <a:solidFill>
                  <a:srgbClr val="9FB3C8"/>
                </a:solidFill>
                <a:latin typeface="Segoe UI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74452" y="1466253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ru-RU" sz="3000" b="1" dirty="0">
                <a:solidFill>
                  <a:srgbClr val="F7FAFC"/>
                </a:solidFill>
                <a:latin typeface="Segoe UI"/>
              </a:rPr>
              <a:t>Тут может ещё что-то вставлю</a:t>
            </a:r>
            <a:endParaRPr sz="3000" b="1" dirty="0">
              <a:solidFill>
                <a:srgbClr val="F7FAFC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735" y="265176"/>
            <a:ext cx="2971800" cy="347472"/>
          </a:xfrm>
          <a:prstGeom prst="roundRect">
            <a:avLst/>
          </a:prstGeom>
          <a:solidFill>
            <a:srgbClr val="00D5FF"/>
          </a:solidFill>
          <a:ln>
            <a:solidFill>
              <a:srgbClr val="00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7111F"/>
                </a:solidFill>
                <a:latin typeface="Segoe UI"/>
              </a:defRPr>
            </a:pPr>
            <a:r>
              <a:rPr dirty="0"/>
              <a:t>СПАСИБО ЗА ВНИМАНИЕ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3C8"/>
                </a:solidFill>
                <a:latin typeface="Segoe UI"/>
              </a:rPr>
              <a:t>Сидоренко Максим · Вариант 3 · Искусственная иммунная сеть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D5FF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845</Words>
  <Application>Microsoft Office PowerPoint</Application>
  <PresentationFormat>Широкоэкранный</PresentationFormat>
  <Paragraphs>220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Искусственная иммунная сеть для поиска кратчайшего пути</dc:title>
  <dc:subject>Генетические алгоритмы и иммунные системы</dc:subject>
  <dc:creator>Сидоренко Максим</dc:creator>
  <cp:keywords/>
  <dc:description>generated using python-pptx</dc:description>
  <cp:lastModifiedBy>Максим Сидоренко</cp:lastModifiedBy>
  <cp:revision>14</cp:revision>
  <dcterms:created xsi:type="dcterms:W3CDTF">2013-01-27T09:14:16Z</dcterms:created>
  <dcterms:modified xsi:type="dcterms:W3CDTF">2026-06-03T09:51:45Z</dcterms:modified>
  <cp:category/>
</cp:coreProperties>
</file>