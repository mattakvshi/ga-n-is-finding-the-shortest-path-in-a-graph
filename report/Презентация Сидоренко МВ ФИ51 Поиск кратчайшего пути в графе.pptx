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754" autoAdjust="0"/>
  </p:normalViewPr>
  <p:slideViewPr>
    <p:cSldViewPr snapToGrid="0" snapToObjects="1">
      <p:cViewPr varScale="1">
        <p:scale>
          <a:sx n="153" d="100"/>
          <a:sy n="153" d="100"/>
        </p:scale>
        <p:origin x="108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C118F5-9C1B-4D65-A7FC-9645814C9020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81C565-3A1F-43F1-A91D-CF2D0D35E8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80140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81C565-3A1F-43F1-A91D-CF2D0D35E8CB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059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85800" y="594360"/>
            <a:ext cx="3383280" cy="347472"/>
          </a:xfrm>
          <a:prstGeom prst="roundRect">
            <a:avLst/>
          </a:prstGeom>
          <a:solidFill>
            <a:srgbClr val="46F0C2"/>
          </a:solidFill>
          <a:ln>
            <a:solidFill>
              <a:srgbClr val="46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ВАРИАНТ 3 · ПОИСК КРАТЧАЙШЕГО ПУТИ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63093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300" b="1" dirty="0" err="1">
                <a:solidFill>
                  <a:srgbClr val="F7FAFC"/>
                </a:solidFill>
                <a:latin typeface="Segoe UI"/>
              </a:rPr>
              <a:t>Искусственная</a:t>
            </a:r>
            <a:r>
              <a:rPr sz="4300" b="1" dirty="0">
                <a:solidFill>
                  <a:srgbClr val="F7FAFC"/>
                </a:solidFill>
                <a:latin typeface="Segoe UI"/>
              </a:rPr>
              <a:t>
</a:t>
            </a:r>
            <a:r>
              <a:rPr sz="4300" b="1" dirty="0" err="1">
                <a:solidFill>
                  <a:srgbClr val="F7FAFC"/>
                </a:solidFill>
                <a:latin typeface="Segoe UI"/>
              </a:rPr>
              <a:t>иммунная</a:t>
            </a:r>
            <a:r>
              <a:rPr sz="4300" b="1" dirty="0">
                <a:solidFill>
                  <a:srgbClr val="F7FAFC"/>
                </a:solidFill>
                <a:latin typeface="Segoe UI"/>
              </a:rPr>
              <a:t> </a:t>
            </a:r>
            <a:r>
              <a:rPr sz="4300" b="1" dirty="0" err="1">
                <a:solidFill>
                  <a:srgbClr val="F7FAFC"/>
                </a:solidFill>
                <a:latin typeface="Segoe UI"/>
              </a:rPr>
              <a:t>сеть</a:t>
            </a:r>
            <a:endParaRPr sz="43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90372" y="2324267"/>
            <a:ext cx="6126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FB3C8"/>
                </a:solidFill>
                <a:latin typeface="Segoe UI"/>
              </a:rPr>
              <a:t>для поиска кратчайшего пути во взвешенном графе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21624" y="73152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00D5FF"/>
                </a:solidFill>
                <a:latin typeface="Segoe UI"/>
              </a:rPr>
              <a:t>Генетические</a:t>
            </a:r>
            <a:r>
              <a:rPr sz="1300" b="0" dirty="0">
                <a:solidFill>
                  <a:srgbClr val="00D5FF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00D5FF"/>
                </a:solidFill>
                <a:latin typeface="Segoe UI"/>
              </a:rPr>
              <a:t>алгоритмы</a:t>
            </a:r>
            <a:r>
              <a:rPr sz="1300" b="0" dirty="0">
                <a:solidFill>
                  <a:srgbClr val="00D5FF"/>
                </a:solidFill>
                <a:latin typeface="Segoe UI"/>
              </a:rPr>
              <a:t> и </a:t>
            </a:r>
            <a:r>
              <a:rPr sz="1300" b="0" dirty="0" err="1">
                <a:solidFill>
                  <a:srgbClr val="00D5FF"/>
                </a:solidFill>
                <a:latin typeface="Segoe UI"/>
              </a:rPr>
              <a:t>иммунные</a:t>
            </a:r>
            <a:r>
              <a:rPr sz="1300" b="0" dirty="0">
                <a:solidFill>
                  <a:srgbClr val="00D5FF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00D5FF"/>
                </a:solidFill>
                <a:latin typeface="Segoe UI"/>
              </a:rPr>
              <a:t>системы</a:t>
            </a:r>
            <a:endParaRPr sz="1300" b="0" dirty="0">
              <a:solidFill>
                <a:srgbClr val="00D5FF"/>
              </a:solidFill>
              <a:latin typeface="Segoe UI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8055864" y="1243584"/>
            <a:ext cx="1463040" cy="22860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518904" y="1243584"/>
            <a:ext cx="1097280" cy="96012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055864" y="1472184"/>
            <a:ext cx="731520" cy="187452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787384" y="3346704"/>
            <a:ext cx="1920240" cy="86868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7690104" y="4215384"/>
            <a:ext cx="3017520" cy="82296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616184" y="2203704"/>
            <a:ext cx="91440" cy="201168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690104" y="3346704"/>
            <a:ext cx="1097280" cy="169164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5138928"/>
            <a:ext cx="3977639" cy="841248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" y="5285232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7FAFC"/>
                </a:solidFill>
                <a:latin typeface="Segoe UI"/>
              </a:rPr>
              <a:t>Сидоренко Максим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5641848"/>
            <a:ext cx="347472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ru-RU" sz="1100" b="0" dirty="0">
                <a:solidFill>
                  <a:srgbClr val="9FB3C8"/>
                </a:solidFill>
                <a:latin typeface="Segoe UI"/>
              </a:rPr>
              <a:t>· </a:t>
            </a:r>
            <a:r>
              <a:rPr sz="1100" b="0" dirty="0">
                <a:solidFill>
                  <a:srgbClr val="9FB3C8"/>
                </a:solidFill>
                <a:latin typeface="Segoe UI"/>
              </a:rPr>
              <a:t>Ф</a:t>
            </a:r>
            <a:r>
              <a:rPr lang="ru-RU" sz="1100" b="0" dirty="0">
                <a:solidFill>
                  <a:srgbClr val="9FB3C8"/>
                </a:solidFill>
                <a:latin typeface="Segoe UI"/>
              </a:rPr>
              <a:t>И51</a:t>
            </a:r>
            <a:r>
              <a:rPr sz="1100" b="0" dirty="0">
                <a:solidFill>
                  <a:srgbClr val="9FB3C8"/>
                </a:solidFill>
                <a:latin typeface="Segoe UI"/>
              </a:rPr>
              <a:t> · 2026</a:t>
            </a:r>
            <a:r>
              <a:rPr lang="ru-RU" sz="1100" b="0" dirty="0">
                <a:solidFill>
                  <a:srgbClr val="9FB3C8"/>
                </a:solidFill>
                <a:latin typeface="Segoe UI"/>
              </a:rPr>
              <a:t> ·</a:t>
            </a:r>
            <a:endParaRPr sz="1100" b="0" dirty="0">
              <a:solidFill>
                <a:srgbClr val="9FB3C8"/>
              </a:solidFill>
              <a:latin typeface="Segoe U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01</a:t>
            </a:r>
          </a:p>
        </p:txBody>
      </p:sp>
      <p:sp>
        <p:nvSpPr>
          <p:cNvPr id="7" name="Oval 6"/>
          <p:cNvSpPr/>
          <p:nvPr/>
        </p:nvSpPr>
        <p:spPr>
          <a:xfrm>
            <a:off x="7680960" y="1097280"/>
            <a:ext cx="749808" cy="749808"/>
          </a:xfrm>
          <a:prstGeom prst="ellipse">
            <a:avLst/>
          </a:prstGeom>
          <a:solidFill>
            <a:srgbClr val="00D5FF"/>
          </a:solidFill>
          <a:ln w="15240"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" name="Oval 7"/>
          <p:cNvSpPr/>
          <p:nvPr/>
        </p:nvSpPr>
        <p:spPr>
          <a:xfrm>
            <a:off x="9144000" y="868680"/>
            <a:ext cx="749808" cy="749808"/>
          </a:xfrm>
          <a:prstGeom prst="ellipse">
            <a:avLst/>
          </a:prstGeom>
          <a:solidFill>
            <a:srgbClr val="8B5CF6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rPr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412480" y="2971800"/>
            <a:ext cx="749808" cy="749808"/>
          </a:xfrm>
          <a:prstGeom prst="ellipse">
            <a:avLst/>
          </a:prstGeom>
          <a:solidFill>
            <a:srgbClr val="00D5FF"/>
          </a:solidFill>
          <a:ln w="15240"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10241280" y="1828800"/>
            <a:ext cx="749808" cy="749808"/>
          </a:xfrm>
          <a:prstGeom prst="ellipse">
            <a:avLst/>
          </a:prstGeom>
          <a:solidFill>
            <a:srgbClr val="46F0C2"/>
          </a:solidFill>
          <a:ln w="15240">
            <a:solidFill>
              <a:srgbClr val="46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332720" y="3840480"/>
            <a:ext cx="749808" cy="749808"/>
          </a:xfrm>
          <a:prstGeom prst="ellipse">
            <a:avLst/>
          </a:prstGeom>
          <a:solidFill>
            <a:srgbClr val="8B5CF6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0" y="4663440"/>
            <a:ext cx="749808" cy="749808"/>
          </a:xfrm>
          <a:prstGeom prst="ellipse">
            <a:avLst/>
          </a:prstGeom>
          <a:solidFill>
            <a:srgbClr val="46F0C2"/>
          </a:solidFill>
          <a:ln w="15240">
            <a:solidFill>
              <a:srgbClr val="46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rPr lang="ru-RU" dirty="0"/>
              <a:t>В результате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ru-RU" sz="3000" b="1" dirty="0">
                <a:solidFill>
                  <a:srgbClr val="F7FAFC"/>
                </a:solidFill>
                <a:latin typeface="Segoe UI"/>
              </a:rPr>
              <a:t>Было реализовано</a:t>
            </a:r>
            <a:r>
              <a:rPr lang="en-US" sz="3000" b="1" dirty="0">
                <a:solidFill>
                  <a:srgbClr val="F7FAFC"/>
                </a:solidFill>
                <a:latin typeface="Segoe UI"/>
              </a:rPr>
              <a:t>:</a:t>
            </a:r>
            <a:endParaRPr sz="3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2331720" cy="123444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2130552"/>
            <a:ext cx="1965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0D5FF"/>
                </a:solidFill>
                <a:latin typeface="Segoe UI"/>
              </a:rPr>
              <a:t>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79191"/>
            <a:ext cx="20025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Segoe UI"/>
              </a:rPr>
              <a:t>алгоритм по варианту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965960"/>
            <a:ext cx="2331720" cy="123444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75888" y="2130552"/>
            <a:ext cx="1965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46F0C2"/>
                </a:solidFill>
                <a:latin typeface="Segoe UI"/>
              </a:rPr>
              <a:t>0.00%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679191"/>
            <a:ext cx="20025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dirty="0" err="1">
                <a:solidFill>
                  <a:srgbClr val="9FB3C8"/>
                </a:solidFill>
                <a:latin typeface="Segoe UI"/>
              </a:rPr>
              <a:t>отклонение</a:t>
            </a:r>
            <a:r>
              <a:rPr sz="12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9FB3C8"/>
                </a:solidFill>
                <a:latin typeface="Segoe UI"/>
              </a:rPr>
              <a:t>от</a:t>
            </a:r>
            <a:r>
              <a:rPr sz="12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9FB3C8"/>
                </a:solidFill>
                <a:latin typeface="Segoe UI"/>
              </a:rPr>
              <a:t>Дейкстры</a:t>
            </a:r>
            <a:r>
              <a:rPr sz="12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9FB3C8"/>
                </a:solidFill>
                <a:latin typeface="Segoe UI"/>
              </a:rPr>
              <a:t>на</a:t>
            </a:r>
            <a:r>
              <a:rPr sz="12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9FB3C8"/>
                </a:solidFill>
                <a:latin typeface="Segoe UI"/>
              </a:rPr>
              <a:t>тестах</a:t>
            </a:r>
            <a:endParaRPr sz="1200" b="0" dirty="0">
              <a:solidFill>
                <a:srgbClr val="9FB3C8"/>
              </a:solidFill>
              <a:latin typeface="Segoe U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327648" y="1965960"/>
            <a:ext cx="2331720" cy="123444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2130552"/>
            <a:ext cx="1965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Sego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9191"/>
            <a:ext cx="20025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Segoe UI"/>
              </a:rPr>
              <a:t>тестовых размерности графа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2288" y="1965960"/>
            <a:ext cx="2331720" cy="123444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45168" y="2130552"/>
            <a:ext cx="1965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FBBF24"/>
                </a:solidFill>
                <a:latin typeface="Segoe UI"/>
              </a:rPr>
              <a:t>GUI-like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679191"/>
            <a:ext cx="20025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Segoe UI"/>
              </a:rPr>
              <a:t>визуализация пути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5394960" cy="196596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0600" y="386778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F7FAFC"/>
                </a:solidFill>
                <a:latin typeface="Segoe UI"/>
              </a:rPr>
              <a:t>Комплект</a:t>
            </a:r>
            <a:r>
              <a:rPr sz="2000" b="1" dirty="0">
                <a:solidFill>
                  <a:srgbClr val="F7FAFC"/>
                </a:solidFill>
                <a:latin typeface="Segoe UI"/>
              </a:rPr>
              <a:t> </a:t>
            </a:r>
            <a:r>
              <a:rPr sz="2000" b="1" dirty="0" err="1">
                <a:solidFill>
                  <a:srgbClr val="F7FAFC"/>
                </a:solidFill>
                <a:latin typeface="Segoe UI"/>
              </a:rPr>
              <a:t>проекта</a:t>
            </a:r>
            <a:endParaRPr sz="2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78992" y="443484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9FB3C8"/>
                </a:solidFill>
                <a:latin typeface="Segoe UI"/>
              </a:defRPr>
            </a:pPr>
            <a:r>
              <a:rPr dirty="0"/>
              <a:t>main.py — </a:t>
            </a:r>
            <a:r>
              <a:rPr dirty="0" err="1"/>
              <a:t>демонстрационный</a:t>
            </a:r>
            <a:r>
              <a:rPr dirty="0"/>
              <a:t> </a:t>
            </a:r>
            <a:r>
              <a:rPr dirty="0" err="1"/>
              <a:t>запуск</a:t>
            </a:r>
            <a:endParaRPr dirty="0"/>
          </a:p>
          <a:p>
            <a:pPr>
              <a:spcAft>
                <a:spcPts val="0"/>
              </a:spcAft>
              <a:defRPr sz="1400" b="0">
                <a:solidFill>
                  <a:srgbClr val="9FB3C8"/>
                </a:solidFill>
                <a:latin typeface="Segoe UI"/>
              </a:defRPr>
            </a:pPr>
            <a:r>
              <a:rPr dirty="0"/>
              <a:t>src/immune_network.py — </a:t>
            </a:r>
            <a:r>
              <a:rPr dirty="0" err="1"/>
              <a:t>реализация</a:t>
            </a:r>
            <a:r>
              <a:rPr dirty="0"/>
              <a:t> ИС</a:t>
            </a:r>
          </a:p>
          <a:p>
            <a:pPr>
              <a:spcAft>
                <a:spcPts val="0"/>
              </a:spcAft>
              <a:defRPr sz="1400" b="0">
                <a:solidFill>
                  <a:srgbClr val="9FB3C8"/>
                </a:solidFill>
                <a:latin typeface="Segoe UI"/>
              </a:defRPr>
            </a:pPr>
            <a:r>
              <a:rPr dirty="0"/>
              <a:t>results/*.</a:t>
            </a:r>
            <a:r>
              <a:rPr dirty="0" err="1"/>
              <a:t>png</a:t>
            </a:r>
            <a:r>
              <a:rPr dirty="0"/>
              <a:t> — </a:t>
            </a:r>
            <a:r>
              <a:rPr dirty="0" err="1"/>
              <a:t>графики</a:t>
            </a:r>
            <a:r>
              <a:rPr dirty="0"/>
              <a:t> и </a:t>
            </a:r>
            <a:r>
              <a:rPr dirty="0" err="1"/>
              <a:t>визуализация</a:t>
            </a:r>
            <a:endParaRPr dirty="0"/>
          </a:p>
          <a:p>
            <a:pPr>
              <a:spcAft>
                <a:spcPts val="0"/>
              </a:spcAft>
              <a:defRPr sz="1400" b="0">
                <a:solidFill>
                  <a:srgbClr val="9FB3C8"/>
                </a:solidFill>
                <a:latin typeface="Segoe UI"/>
              </a:defRPr>
            </a:pPr>
            <a:r>
              <a:rPr dirty="0"/>
              <a:t>report/*.docx — </a:t>
            </a:r>
            <a:r>
              <a:rPr dirty="0" err="1"/>
              <a:t>оформленный</a:t>
            </a:r>
            <a:r>
              <a:rPr dirty="0"/>
              <a:t> </a:t>
            </a:r>
            <a:r>
              <a:rPr dirty="0" err="1"/>
              <a:t>отчёт</a:t>
            </a:r>
            <a:endParaRPr dirty="0"/>
          </a:p>
        </p:txBody>
      </p:sp>
      <p:sp>
        <p:nvSpPr>
          <p:cNvPr id="21" name="Rounded Rectangle 20"/>
          <p:cNvSpPr/>
          <p:nvPr/>
        </p:nvSpPr>
        <p:spPr>
          <a:xfrm>
            <a:off x="6537960" y="3703320"/>
            <a:ext cx="4846320" cy="196596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12280" y="3839727"/>
            <a:ext cx="4389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F7FAFC"/>
                </a:solidFill>
                <a:latin typeface="Segoe UI"/>
              </a:rPr>
              <a:t>Критерии</a:t>
            </a:r>
            <a:r>
              <a:rPr sz="2000" b="1" dirty="0">
                <a:solidFill>
                  <a:srgbClr val="F7FAFC"/>
                </a:solidFill>
                <a:latin typeface="Segoe UI"/>
              </a:rPr>
              <a:t> </a:t>
            </a:r>
            <a:r>
              <a:rPr sz="2000" b="1" dirty="0" err="1">
                <a:solidFill>
                  <a:srgbClr val="F7FAFC"/>
                </a:solidFill>
                <a:latin typeface="Segoe UI"/>
              </a:rPr>
              <a:t>оценки</a:t>
            </a:r>
            <a:endParaRPr sz="2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812280" y="4373169"/>
            <a:ext cx="4251960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0D5FF"/>
                </a:solidFill>
                <a:latin typeface="Segoe UI"/>
              </a:defRPr>
            </a:pPr>
            <a:r>
              <a:rPr sz="1200" dirty="0" err="1"/>
              <a:t>Время</a:t>
            </a:r>
            <a:r>
              <a:rPr sz="1200" dirty="0"/>
              <a:t> </a:t>
            </a:r>
            <a:r>
              <a:rPr sz="1200" dirty="0" err="1"/>
              <a:t>выполнения</a:t>
            </a:r>
            <a:endParaRPr sz="1200" dirty="0"/>
          </a:p>
          <a:p>
            <a:pPr>
              <a:spcAft>
                <a:spcPts val="800"/>
              </a:spcAft>
              <a:defRPr sz="1400" b="1">
                <a:solidFill>
                  <a:srgbClr val="46F0C2"/>
                </a:solidFill>
                <a:latin typeface="Segoe UI"/>
              </a:defRPr>
            </a:pPr>
            <a:r>
              <a:rPr sz="1200" dirty="0" err="1"/>
              <a:t>Качество</a:t>
            </a:r>
            <a:r>
              <a:rPr sz="1200" dirty="0"/>
              <a:t> </a:t>
            </a:r>
            <a:r>
              <a:rPr sz="1200" dirty="0" err="1"/>
              <a:t>решения</a:t>
            </a:r>
            <a:r>
              <a:rPr sz="1200" dirty="0"/>
              <a:t> </a:t>
            </a:r>
            <a:r>
              <a:rPr sz="1200" dirty="0" err="1"/>
              <a:t>через</a:t>
            </a:r>
            <a:r>
              <a:rPr sz="1200" dirty="0"/>
              <a:t> </a:t>
            </a:r>
            <a:r>
              <a:rPr sz="1200" dirty="0" err="1"/>
              <a:t>сравнение</a:t>
            </a:r>
            <a:r>
              <a:rPr sz="1200" dirty="0"/>
              <a:t> с </a:t>
            </a:r>
            <a:r>
              <a:rPr sz="1200" dirty="0" err="1"/>
              <a:t>Дейкстрой</a:t>
            </a:r>
            <a:endParaRPr sz="1200" dirty="0"/>
          </a:p>
          <a:p>
            <a:pPr>
              <a:spcAft>
                <a:spcPts val="800"/>
              </a:spcAft>
              <a:defRPr sz="1400" b="1">
                <a:solidFill>
                  <a:srgbClr val="8B5CF6"/>
                </a:solidFill>
                <a:latin typeface="Segoe UI"/>
              </a:defRPr>
            </a:pPr>
            <a:r>
              <a:rPr sz="1200" dirty="0" err="1"/>
              <a:t>Динамика</a:t>
            </a:r>
            <a:r>
              <a:rPr sz="1200" dirty="0"/>
              <a:t> </a:t>
            </a:r>
            <a:r>
              <a:rPr sz="1200" dirty="0" err="1"/>
              <a:t>целевой</a:t>
            </a:r>
            <a:r>
              <a:rPr sz="1200" dirty="0"/>
              <a:t> </a:t>
            </a:r>
            <a:r>
              <a:rPr sz="1200" dirty="0" err="1"/>
              <a:t>функции</a:t>
            </a:r>
            <a:r>
              <a:rPr sz="1200" dirty="0"/>
              <a:t> </a:t>
            </a:r>
            <a:r>
              <a:rPr sz="1200" dirty="0" err="1"/>
              <a:t>по</a:t>
            </a:r>
            <a:r>
              <a:rPr sz="1200" dirty="0"/>
              <a:t> </a:t>
            </a:r>
            <a:r>
              <a:rPr sz="1200" dirty="0" err="1"/>
              <a:t>итерациям</a:t>
            </a:r>
            <a:endParaRPr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ПОСТАНОВКА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dirty="0" err="1">
                <a:solidFill>
                  <a:srgbClr val="F7FAFC"/>
                </a:solidFill>
                <a:latin typeface="Segoe UI"/>
              </a:rPr>
              <a:t>Задача</a:t>
            </a:r>
            <a:r>
              <a:rPr sz="3000" b="1" dirty="0">
                <a:solidFill>
                  <a:srgbClr val="F7FAFC"/>
                </a:solidFill>
                <a:latin typeface="Segoe UI"/>
              </a:rPr>
              <a:t> </a:t>
            </a:r>
            <a:r>
              <a:rPr sz="3000" b="1" dirty="0" err="1">
                <a:solidFill>
                  <a:srgbClr val="F7FAFC"/>
                </a:solidFill>
                <a:latin typeface="Segoe UI"/>
              </a:rPr>
              <a:t>кратчайшего</a:t>
            </a:r>
            <a:r>
              <a:rPr sz="3000" b="1" dirty="0">
                <a:solidFill>
                  <a:srgbClr val="F7FAFC"/>
                </a:solidFill>
                <a:latin typeface="Segoe UI"/>
              </a:rPr>
              <a:t> </a:t>
            </a:r>
            <a:r>
              <a:rPr sz="3000" b="1" dirty="0" err="1">
                <a:solidFill>
                  <a:srgbClr val="F7FAFC"/>
                </a:solidFill>
                <a:latin typeface="Segoe UI"/>
              </a:rPr>
              <a:t>пути</a:t>
            </a:r>
            <a:endParaRPr sz="3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1307592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 err="1">
                <a:solidFill>
                  <a:srgbClr val="9FB3C8"/>
                </a:solidFill>
                <a:latin typeface="Segoe UI"/>
              </a:rPr>
              <a:t>Дан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взвешенный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граф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.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Нужно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найти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путь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минимальной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суммарной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длины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между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стартовой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и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конечной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вершиной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546080" cy="384048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960120" y="2084831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7FAFC"/>
                </a:solidFill>
                <a:latin typeface="Segoe UI"/>
              </a:rPr>
              <a:t>Формальная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5AD27D-11E0-4F96-8340-BBD5C271B249}"/>
              </a:ext>
            </a:extLst>
          </p:cNvPr>
          <p:cNvSpPr txBox="1"/>
          <p:nvPr/>
        </p:nvSpPr>
        <p:spPr>
          <a:xfrm>
            <a:off x="1042416" y="2730102"/>
            <a:ext cx="4480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D5FF"/>
                </a:solidFill>
                <a:latin typeface="Segoe UI"/>
              </a:defRPr>
            </a:pPr>
            <a:r>
              <a:rPr dirty="0"/>
              <a:t>G = (V, E, w)</a:t>
            </a:r>
          </a:p>
          <a:p>
            <a:pPr>
              <a:spcAft>
                <a:spcPts val="800"/>
              </a:spcAft>
              <a:defRPr sz="1700" b="0">
                <a:solidFill>
                  <a:srgbClr val="9FB3C8"/>
                </a:solidFill>
                <a:latin typeface="Segoe UI"/>
              </a:defRPr>
            </a:pPr>
            <a:r>
              <a:rPr dirty="0"/>
              <a:t>V — </a:t>
            </a:r>
            <a:r>
              <a:rPr dirty="0" err="1"/>
              <a:t>множество</a:t>
            </a:r>
            <a:r>
              <a:rPr dirty="0"/>
              <a:t> </a:t>
            </a:r>
            <a:r>
              <a:rPr dirty="0" err="1"/>
              <a:t>вершин</a:t>
            </a:r>
            <a:endParaRPr dirty="0"/>
          </a:p>
          <a:p>
            <a:pPr>
              <a:spcAft>
                <a:spcPts val="800"/>
              </a:spcAft>
              <a:defRPr sz="1700" b="0">
                <a:solidFill>
                  <a:srgbClr val="9FB3C8"/>
                </a:solidFill>
                <a:latin typeface="Segoe UI"/>
              </a:defRPr>
            </a:pPr>
            <a:r>
              <a:rPr dirty="0"/>
              <a:t>E — </a:t>
            </a:r>
            <a:r>
              <a:rPr dirty="0" err="1"/>
              <a:t>множество</a:t>
            </a:r>
            <a:r>
              <a:rPr dirty="0"/>
              <a:t> </a:t>
            </a:r>
            <a:r>
              <a:rPr dirty="0" err="1"/>
              <a:t>рёбер</a:t>
            </a:r>
            <a:endParaRPr dirty="0"/>
          </a:p>
          <a:p>
            <a:pPr>
              <a:spcAft>
                <a:spcPts val="800"/>
              </a:spcAft>
              <a:defRPr sz="1700" b="0">
                <a:solidFill>
                  <a:srgbClr val="9FB3C8"/>
                </a:solidFill>
                <a:latin typeface="Segoe UI"/>
              </a:defRPr>
            </a:pPr>
            <a:r>
              <a:rPr dirty="0"/>
              <a:t>w(e) &gt; 0 — </a:t>
            </a:r>
            <a:r>
              <a:rPr dirty="0" err="1"/>
              <a:t>вес</a:t>
            </a:r>
            <a:r>
              <a:rPr dirty="0"/>
              <a:t> </a:t>
            </a:r>
            <a:r>
              <a:rPr dirty="0" err="1"/>
              <a:t>ребра</a:t>
            </a:r>
            <a:endParaRPr dirty="0"/>
          </a:p>
          <a:p>
            <a:pPr>
              <a:spcAft>
                <a:spcPts val="800"/>
              </a:spcAft>
              <a:defRPr sz="1700" b="1">
                <a:solidFill>
                  <a:srgbClr val="46F0C2"/>
                </a:solidFill>
                <a:latin typeface="Segoe UI"/>
              </a:defRPr>
            </a:pPr>
            <a:r>
              <a:rPr dirty="0" err="1"/>
              <a:t>Найти</a:t>
            </a:r>
            <a:r>
              <a:rPr dirty="0"/>
              <a:t>: P* = </a:t>
            </a:r>
            <a:r>
              <a:rPr dirty="0" err="1"/>
              <a:t>arg</a:t>
            </a:r>
            <a:r>
              <a:rPr dirty="0"/>
              <a:t> min Σ w(e)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ИДЕЯ ИС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7FAFC"/>
                </a:solidFill>
                <a:latin typeface="Segoe UI"/>
              </a:rPr>
              <a:t>Биологическая аналогия → алгоритм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307592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FB3C8"/>
                </a:solidFill>
                <a:latin typeface="Segoe UI"/>
              </a:rPr>
              <a:t>Искусственная иммунная сеть переносит механизмы отбора, клонирования, мутации и памяти в оптимизационную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5074920" cy="14173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41832" y="2249424"/>
            <a:ext cx="658368" cy="658368"/>
          </a:xfrm>
          <a:prstGeom prst="ellipse">
            <a:avLst/>
          </a:prstGeom>
          <a:solidFill>
            <a:srgbClr val="00D5FF"/>
          </a:solidFill>
          <a:ln w="15240"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1368" y="2176272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F7FAFC"/>
                </a:solidFill>
                <a:latin typeface="Segoe UI"/>
              </a:rPr>
              <a:t>Антиген</a:t>
            </a:r>
            <a:endParaRPr sz="2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01368" y="2624328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 err="1">
                <a:solidFill>
                  <a:srgbClr val="9FB3C8"/>
                </a:solidFill>
                <a:latin typeface="Segoe UI"/>
              </a:rPr>
              <a:t>задача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: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граф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+ start/target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920240"/>
            <a:ext cx="5074920" cy="14173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611112" y="2249424"/>
            <a:ext cx="658368" cy="658368"/>
          </a:xfrm>
          <a:prstGeom prst="ellipse">
            <a:avLst/>
          </a:prstGeom>
          <a:solidFill>
            <a:srgbClr val="46F0C2"/>
          </a:solidFill>
          <a:ln w="15240">
            <a:solidFill>
              <a:srgbClr val="46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2176272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7FAFC"/>
                </a:solidFill>
                <a:latin typeface="Segoe UI"/>
              </a:rPr>
              <a:t>Антитело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0648" y="2624328"/>
            <a:ext cx="361188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 err="1">
                <a:solidFill>
                  <a:srgbClr val="9FB3C8"/>
                </a:solidFill>
                <a:latin typeface="Segoe UI"/>
              </a:rPr>
              <a:t>кандидат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: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путь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от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s</a:t>
            </a:r>
            <a:r>
              <a:rPr lang="en-US" sz="1400" dirty="0">
                <a:solidFill>
                  <a:srgbClr val="9FB3C8"/>
                </a:solidFill>
                <a:latin typeface="Segoe UI"/>
              </a:rPr>
              <a:t>tart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к t</a:t>
            </a:r>
            <a:r>
              <a:rPr lang="en-US" sz="1400" b="0" dirty="0">
                <a:solidFill>
                  <a:srgbClr val="9FB3C8"/>
                </a:solidFill>
                <a:latin typeface="Segoe UI"/>
              </a:rPr>
              <a:t>arget</a:t>
            </a:r>
            <a:endParaRPr sz="1400" b="0" dirty="0">
              <a:solidFill>
                <a:srgbClr val="9FB3C8"/>
              </a:solidFill>
              <a:latin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85800" y="3794760"/>
            <a:ext cx="5074920" cy="14173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41832" y="4123944"/>
            <a:ext cx="658368" cy="658368"/>
          </a:xfrm>
          <a:prstGeom prst="ellipse">
            <a:avLst/>
          </a:prstGeom>
          <a:solidFill>
            <a:srgbClr val="8B5CF6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1368" y="4050792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F7FAFC"/>
                </a:solidFill>
                <a:latin typeface="Segoe UI"/>
              </a:rPr>
              <a:t>Аффинность</a:t>
            </a:r>
            <a:endParaRPr sz="2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801368" y="4498848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 err="1">
                <a:solidFill>
                  <a:srgbClr val="9FB3C8"/>
                </a:solidFill>
                <a:latin typeface="Segoe UI"/>
              </a:rPr>
              <a:t>чем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короче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путь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тем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лучше</a:t>
            </a:r>
            <a:endParaRPr sz="1400" b="0" dirty="0">
              <a:solidFill>
                <a:srgbClr val="9FB3C8"/>
              </a:solidFill>
              <a:latin typeface="Segoe U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355080" y="3794760"/>
            <a:ext cx="5074920" cy="14173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611112" y="4123944"/>
            <a:ext cx="658368" cy="658368"/>
          </a:xfrm>
          <a:prstGeom prst="ellipse">
            <a:avLst/>
          </a:prstGeom>
          <a:solidFill>
            <a:srgbClr val="FBBF24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4050792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7FAFC"/>
                </a:solidFill>
                <a:latin typeface="Segoe UI"/>
              </a:rPr>
              <a:t>Память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648" y="4498848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FB3C8"/>
                </a:solidFill>
                <a:latin typeface="Segoe UI"/>
              </a:rPr>
              <a:t>лучшие найденные маршруты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АЛГОРИТМ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7FAFC"/>
                </a:solidFill>
                <a:latin typeface="Segoe UI"/>
              </a:rPr>
              <a:t>Пайплайн искусственной иммунной сети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307592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FB3C8"/>
                </a:solidFill>
                <a:latin typeface="Segoe UI"/>
              </a:rPr>
              <a:t>Цикл оптимизации повторяется, пока сеть не стабилизируется или не достигнут лимит итераций.</a:t>
            </a:r>
          </a:p>
        </p:txBody>
      </p:sp>
      <p:sp>
        <p:nvSpPr>
          <p:cNvPr id="6" name="Oval 5"/>
          <p:cNvSpPr/>
          <p:nvPr/>
        </p:nvSpPr>
        <p:spPr>
          <a:xfrm>
            <a:off x="850392" y="2331720"/>
            <a:ext cx="658368" cy="658368"/>
          </a:xfrm>
          <a:prstGeom prst="ellipse">
            <a:avLst/>
          </a:prstGeom>
          <a:solidFill>
            <a:srgbClr val="00D5FF"/>
          </a:solidFill>
          <a:ln w="15240"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rPr dirty="0"/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315468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7FAFC"/>
                </a:solidFill>
                <a:latin typeface="Segoe UI"/>
              </a:rPr>
              <a:t>Популяция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3474720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9FB3C8"/>
                </a:solidFill>
                <a:latin typeface="Segoe UI"/>
              </a:rPr>
              <a:t>случайные пути</a:t>
            </a:r>
          </a:p>
        </p:txBody>
      </p:sp>
      <p:cxnSp>
        <p:nvCxnSpPr>
          <p:cNvPr id="9" name="Connector 8"/>
          <p:cNvCxnSpPr>
            <a:cxnSpLocks/>
            <a:stCxn id="6" idx="6"/>
            <a:endCxn id="10" idx="2"/>
          </p:cNvCxnSpPr>
          <p:nvPr/>
        </p:nvCxnSpPr>
        <p:spPr>
          <a:xfrm>
            <a:off x="1508760" y="2660904"/>
            <a:ext cx="1005840" cy="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514600" y="2331720"/>
            <a:ext cx="658368" cy="658368"/>
          </a:xfrm>
          <a:prstGeom prst="ellipse">
            <a:avLst/>
          </a:prstGeom>
          <a:solidFill>
            <a:srgbClr val="00D5FF"/>
          </a:solidFill>
          <a:ln w="15240"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rPr dirty="0"/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15468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7FAFC"/>
                </a:solidFill>
                <a:latin typeface="Segoe UI"/>
              </a:rPr>
              <a:t>Аффинность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474720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9FB3C8"/>
                </a:solidFill>
                <a:latin typeface="Segoe UI"/>
              </a:rPr>
              <a:t>оценка длины</a:t>
            </a:r>
          </a:p>
        </p:txBody>
      </p:sp>
      <p:cxnSp>
        <p:nvCxnSpPr>
          <p:cNvPr id="13" name="Connector 12"/>
          <p:cNvCxnSpPr>
            <a:cxnSpLocks/>
            <a:stCxn id="10" idx="6"/>
            <a:endCxn id="14" idx="2"/>
          </p:cNvCxnSpPr>
          <p:nvPr/>
        </p:nvCxnSpPr>
        <p:spPr>
          <a:xfrm>
            <a:off x="3172968" y="2660904"/>
            <a:ext cx="1005839" cy="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178807" y="2331720"/>
            <a:ext cx="658368" cy="658368"/>
          </a:xfrm>
          <a:prstGeom prst="ellipse">
            <a:avLst/>
          </a:prstGeom>
          <a:solidFill>
            <a:srgbClr val="00D5FF"/>
          </a:solidFill>
          <a:ln w="15240"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15468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7FAFC"/>
                </a:solidFill>
                <a:latin typeface="Segoe UI"/>
              </a:rPr>
              <a:t>Отбор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8768" y="3474720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9FB3C8"/>
                </a:solidFill>
                <a:latin typeface="Segoe UI"/>
              </a:rPr>
              <a:t>лучшие антитела</a:t>
            </a:r>
          </a:p>
        </p:txBody>
      </p:sp>
      <p:cxnSp>
        <p:nvCxnSpPr>
          <p:cNvPr id="17" name="Connector 16"/>
          <p:cNvCxnSpPr>
            <a:cxnSpLocks/>
            <a:stCxn id="14" idx="6"/>
            <a:endCxn id="18" idx="2"/>
          </p:cNvCxnSpPr>
          <p:nvPr/>
        </p:nvCxnSpPr>
        <p:spPr>
          <a:xfrm>
            <a:off x="4837175" y="2660904"/>
            <a:ext cx="1005841" cy="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843016" y="2331720"/>
            <a:ext cx="658368" cy="658368"/>
          </a:xfrm>
          <a:prstGeom prst="ellipse">
            <a:avLst/>
          </a:prstGeom>
          <a:solidFill>
            <a:srgbClr val="8B5CF6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315468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7FAFC"/>
                </a:solidFill>
                <a:latin typeface="Segoe UI"/>
              </a:rPr>
              <a:t>Клоны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2976" y="3474720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9FB3C8"/>
                </a:solidFill>
                <a:latin typeface="Segoe UI"/>
              </a:rPr>
              <a:t>копии лучших</a:t>
            </a:r>
          </a:p>
        </p:txBody>
      </p:sp>
      <p:cxnSp>
        <p:nvCxnSpPr>
          <p:cNvPr id="21" name="Connector 20"/>
          <p:cNvCxnSpPr>
            <a:cxnSpLocks/>
            <a:stCxn id="18" idx="6"/>
            <a:endCxn id="22" idx="2"/>
          </p:cNvCxnSpPr>
          <p:nvPr/>
        </p:nvCxnSpPr>
        <p:spPr>
          <a:xfrm>
            <a:off x="6501384" y="2660904"/>
            <a:ext cx="1005840" cy="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507224" y="2331720"/>
            <a:ext cx="658368" cy="658368"/>
          </a:xfrm>
          <a:prstGeom prst="ellipse">
            <a:avLst/>
          </a:prstGeom>
          <a:solidFill>
            <a:srgbClr val="8B5CF6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87184" y="315468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7FAFC"/>
                </a:solidFill>
                <a:latin typeface="Segoe UI"/>
              </a:rPr>
              <a:t>Гипермутация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87184" y="3474720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9FB3C8"/>
                </a:solidFill>
                <a:latin typeface="Segoe UI"/>
              </a:rPr>
              <a:t>перестройка пути</a:t>
            </a:r>
          </a:p>
        </p:txBody>
      </p:sp>
      <p:cxnSp>
        <p:nvCxnSpPr>
          <p:cNvPr id="25" name="Connector 24"/>
          <p:cNvCxnSpPr>
            <a:cxnSpLocks/>
            <a:stCxn id="22" idx="6"/>
            <a:endCxn id="26" idx="2"/>
          </p:cNvCxnSpPr>
          <p:nvPr/>
        </p:nvCxnSpPr>
        <p:spPr>
          <a:xfrm>
            <a:off x="8165592" y="2660904"/>
            <a:ext cx="1005840" cy="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171432" y="2331720"/>
            <a:ext cx="658368" cy="658368"/>
          </a:xfrm>
          <a:prstGeom prst="ellipse">
            <a:avLst/>
          </a:prstGeom>
          <a:solidFill>
            <a:srgbClr val="46F0C2"/>
          </a:solidFill>
          <a:ln w="15240">
            <a:solidFill>
              <a:srgbClr val="46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51392" y="315468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7FAFC"/>
                </a:solidFill>
                <a:latin typeface="Segoe UI"/>
              </a:rPr>
              <a:t>Супрессия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3474720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9FB3C8"/>
                </a:solidFill>
                <a:latin typeface="Segoe UI"/>
              </a:rPr>
              <a:t>убрать похожие</a:t>
            </a:r>
          </a:p>
        </p:txBody>
      </p:sp>
      <p:cxnSp>
        <p:nvCxnSpPr>
          <p:cNvPr id="29" name="Connector 28"/>
          <p:cNvCxnSpPr>
            <a:cxnSpLocks/>
            <a:stCxn id="26" idx="6"/>
            <a:endCxn id="30" idx="2"/>
          </p:cNvCxnSpPr>
          <p:nvPr/>
        </p:nvCxnSpPr>
        <p:spPr>
          <a:xfrm>
            <a:off x="9829800" y="2660904"/>
            <a:ext cx="1005840" cy="0"/>
          </a:xfrm>
          <a:prstGeom prst="line">
            <a:avLst/>
          </a:prstGeom>
          <a:ln w="254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835640" y="2331720"/>
            <a:ext cx="658368" cy="658368"/>
          </a:xfrm>
          <a:prstGeom prst="ellipse">
            <a:avLst/>
          </a:prstGeom>
          <a:solidFill>
            <a:srgbClr val="46F0C2"/>
          </a:solidFill>
          <a:ln w="15240">
            <a:solidFill>
              <a:srgbClr val="46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315468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7FAFC"/>
                </a:solidFill>
                <a:latin typeface="Segoe UI"/>
              </a:rPr>
              <a:t>Память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3474720"/>
            <a:ext cx="141732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ru-RU" sz="1000" dirty="0">
                <a:solidFill>
                  <a:srgbClr val="9FB3C8"/>
                </a:solidFill>
                <a:latin typeface="Segoe UI"/>
              </a:rPr>
              <a:t>с</a:t>
            </a:r>
            <a:r>
              <a:rPr sz="1000" b="0" dirty="0" err="1">
                <a:solidFill>
                  <a:srgbClr val="9FB3C8"/>
                </a:solidFill>
                <a:latin typeface="Segoe UI"/>
              </a:rPr>
              <a:t>охранить</a:t>
            </a:r>
            <a:r>
              <a:rPr lang="ru-RU" sz="1000" dirty="0">
                <a:solidFill>
                  <a:srgbClr val="9FB3C8"/>
                </a:solidFill>
                <a:latin typeface="Segoe UI"/>
              </a:rPr>
              <a:t> лучшие</a:t>
            </a:r>
            <a:endParaRPr sz="1000" b="0" dirty="0">
              <a:solidFill>
                <a:srgbClr val="9FB3C8"/>
              </a:solidFill>
              <a:latin typeface="Segoe U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914400" y="4617720"/>
            <a:ext cx="10287000" cy="105156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207008" y="4828032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D5FF"/>
                </a:solidFill>
                <a:latin typeface="Segoe UI"/>
              </a:rPr>
              <a:t>Ключевой принцип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7560" y="4837176"/>
            <a:ext cx="7406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7FAFC"/>
                </a:solidFill>
                <a:latin typeface="Segoe UI"/>
              </a:rPr>
              <a:t>хорошие пути размножаются, плохие исчезают, а память сохраняет лучшие найденные маршруты.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КОДИРОВАНИЕ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7FAFC"/>
                </a:solidFill>
                <a:latin typeface="Segoe UI"/>
              </a:rPr>
              <a:t>Как путь становится антителом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307592"/>
            <a:ext cx="98755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 err="1">
                <a:solidFill>
                  <a:srgbClr val="9FB3C8"/>
                </a:solidFill>
                <a:latin typeface="Segoe UI"/>
              </a:rPr>
              <a:t>Решение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представляется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последовательностью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вершин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графа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.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194560"/>
            <a:ext cx="868680" cy="868680"/>
          </a:xfrm>
          <a:prstGeom prst="ellipse">
            <a:avLst/>
          </a:prstGeom>
          <a:solidFill>
            <a:srgbClr val="46F0C2"/>
          </a:solidFill>
          <a:ln w="15240">
            <a:solidFill>
              <a:srgbClr val="46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83080" y="2633472"/>
            <a:ext cx="1097280" cy="0"/>
          </a:xfrm>
          <a:prstGeom prst="line">
            <a:avLst/>
          </a:prstGeom>
          <a:ln w="381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74486" y="2258568"/>
            <a:ext cx="714468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100" b="0" dirty="0">
                <a:solidFill>
                  <a:srgbClr val="9FB3C8"/>
                </a:solidFill>
                <a:latin typeface="Segoe UI"/>
              </a:rPr>
              <a:t>W = 6</a:t>
            </a:r>
            <a:endParaRPr sz="1100" b="0" dirty="0">
              <a:solidFill>
                <a:srgbClr val="9FB3C8"/>
              </a:solidFill>
              <a:latin typeface="Segoe UI"/>
            </a:endParaRPr>
          </a:p>
        </p:txBody>
      </p:sp>
      <p:sp>
        <p:nvSpPr>
          <p:cNvPr id="9" name="Oval 8"/>
          <p:cNvSpPr/>
          <p:nvPr/>
        </p:nvSpPr>
        <p:spPr>
          <a:xfrm>
            <a:off x="2880360" y="2194560"/>
            <a:ext cx="868680" cy="868680"/>
          </a:xfrm>
          <a:prstGeom prst="ellipse">
            <a:avLst/>
          </a:prstGeom>
          <a:solidFill>
            <a:srgbClr val="00D5FF"/>
          </a:solidFill>
          <a:ln w="15240"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49039" y="2633472"/>
            <a:ext cx="1097281" cy="0"/>
          </a:xfrm>
          <a:prstGeom prst="line">
            <a:avLst/>
          </a:prstGeom>
          <a:ln w="38100">
            <a:solidFill>
              <a:srgbClr val="00D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846320" y="2194560"/>
            <a:ext cx="868680" cy="868680"/>
          </a:xfrm>
          <a:prstGeom prst="ellipse">
            <a:avLst/>
          </a:prstGeom>
          <a:solidFill>
            <a:srgbClr val="8B5CF6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rPr dirty="0"/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1965960"/>
            <a:ext cx="4251960" cy="146304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60920" y="224028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46F0C2"/>
                </a:solidFill>
                <a:latin typeface="Segoe UI"/>
              </a:rPr>
              <a:t>F(P) =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0064" y="27889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Segoe UI"/>
              </a:rPr>
              <a:t>целевая функция = сумма весов рёбер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69080"/>
            <a:ext cx="5166360" cy="14173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4315968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7FAFC"/>
                </a:solidFill>
                <a:latin typeface="Segoe UI"/>
              </a:rPr>
              <a:t>Мутация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4736592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FB3C8"/>
                </a:solidFill>
                <a:latin typeface="Segoe UI"/>
              </a:rPr>
              <a:t>заменяет участок пути, перестраивает хвост или делает shortcut через Дейкстру для локального ремонта.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069080"/>
            <a:ext cx="4983480" cy="14173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7FAFC"/>
                </a:solidFill>
                <a:latin typeface="Segoe UI"/>
              </a:rPr>
              <a:t>Ремонт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36592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FB3C8"/>
                </a:solidFill>
                <a:latin typeface="Segoe UI"/>
              </a:rPr>
              <a:t>если после мутации путь некорректен, отсутствующий участок достраивается допустимым маршрутом.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06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4892FC-393B-453C-8766-74C656EC39A0}"/>
              </a:ext>
            </a:extLst>
          </p:cNvPr>
          <p:cNvSpPr txBox="1"/>
          <p:nvPr/>
        </p:nvSpPr>
        <p:spPr>
          <a:xfrm>
            <a:off x="3947161" y="2258568"/>
            <a:ext cx="714468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100" b="0" dirty="0">
                <a:solidFill>
                  <a:srgbClr val="9FB3C8"/>
                </a:solidFill>
                <a:latin typeface="Segoe UI"/>
              </a:rPr>
              <a:t>W = 6</a:t>
            </a:r>
            <a:endParaRPr sz="1100" b="0" dirty="0">
              <a:solidFill>
                <a:srgbClr val="9FB3C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РЕАЛИЗАЦИЯ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7FAFC"/>
                </a:solidFill>
                <a:latin typeface="Segoe UI"/>
              </a:rPr>
              <a:t>Архитектура проекта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937760" cy="9601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94767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D5FF"/>
                </a:solidFill>
                <a:latin typeface="Segoe UI"/>
              </a:rPr>
              <a:t>graph_model.py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267712"/>
            <a:ext cx="4251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8"/>
                </a:solidFill>
                <a:latin typeface="Segoe UI"/>
              </a:rPr>
              <a:t>модель графа, генерация, проверка пути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4937760" cy="9601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9672" y="194767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D5FF"/>
                </a:solidFill>
                <a:latin typeface="Segoe UI"/>
              </a:rPr>
              <a:t>immune_network.py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2267712"/>
            <a:ext cx="4251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8"/>
                </a:solidFill>
                <a:latin typeface="Segoe UI"/>
              </a:rPr>
              <a:t>ядро ИС: клоны, мутация, супрессия, память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4937760" cy="9601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7552" y="31821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D5FF"/>
                </a:solidFill>
                <a:latin typeface="Segoe UI"/>
              </a:rPr>
              <a:t>dijkstra_baseline.py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502152"/>
            <a:ext cx="4251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8"/>
                </a:solidFill>
                <a:latin typeface="Segoe UI"/>
              </a:rPr>
              <a:t>эталон для проверки качества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17520"/>
            <a:ext cx="4937760" cy="9601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31821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D5FF"/>
                </a:solidFill>
                <a:latin typeface="Segoe UI"/>
              </a:rPr>
              <a:t>experiments.py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3502152"/>
            <a:ext cx="4251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8"/>
                </a:solidFill>
                <a:latin typeface="Segoe UI"/>
              </a:rPr>
              <a:t>серия запусков и CSV-таблица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51960"/>
            <a:ext cx="4937760" cy="9601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" y="441655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D5FF"/>
                </a:solidFill>
                <a:latin typeface="Segoe UI"/>
              </a:rPr>
              <a:t>visualization.py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736592"/>
            <a:ext cx="4251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8"/>
                </a:solidFill>
                <a:latin typeface="Segoe UI"/>
              </a:rPr>
              <a:t>графики и визуализация пути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51960"/>
            <a:ext cx="4937760" cy="96012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9672" y="441655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D5FF"/>
                </a:solidFill>
                <a:latin typeface="Segoe UI"/>
              </a:rPr>
              <a:t>main.py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4736592"/>
            <a:ext cx="4251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8"/>
                </a:solidFill>
                <a:latin typeface="Segoe UI"/>
              </a:rPr>
              <a:t>демонстрационный запуск проекта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669280"/>
            <a:ext cx="10287000" cy="50292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5797296"/>
            <a:ext cx="98755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 err="1">
                <a:solidFill>
                  <a:srgbClr val="F7FAFC"/>
                </a:solidFill>
                <a:latin typeface="Segoe UI"/>
              </a:rPr>
              <a:t>Стек</a:t>
            </a:r>
            <a:r>
              <a:rPr sz="1400" b="1" dirty="0">
                <a:solidFill>
                  <a:srgbClr val="F7FAFC"/>
                </a:solidFill>
                <a:latin typeface="Segoe UI"/>
              </a:rPr>
              <a:t>: Python · </a:t>
            </a:r>
            <a:r>
              <a:rPr sz="1400" b="1" dirty="0" err="1">
                <a:solidFill>
                  <a:srgbClr val="F7FAFC"/>
                </a:solidFill>
                <a:latin typeface="Segoe UI"/>
              </a:rPr>
              <a:t>NetworkX</a:t>
            </a:r>
            <a:r>
              <a:rPr sz="1400" b="1" dirty="0">
                <a:solidFill>
                  <a:srgbClr val="F7FAFC"/>
                </a:solidFill>
                <a:latin typeface="Segoe UI"/>
              </a:rPr>
              <a:t> · Matplotlib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7FAFC"/>
                </a:solidFill>
                <a:latin typeface="Segoe UI"/>
              </a:rPr>
              <a:t>Визуализация найденного пути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307592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FB3C8"/>
                </a:solidFill>
                <a:latin typeface="Segoe UI"/>
              </a:rPr>
              <a:t>На графе подсвечен маршрут, найденный искусственной иммунной сетью.</a:t>
            </a:r>
          </a:p>
        </p:txBody>
      </p:sp>
      <p:pic>
        <p:nvPicPr>
          <p:cNvPr id="6" name="Picture 5" descr="graph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00200"/>
            <a:ext cx="75895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41080" y="1600200"/>
            <a:ext cx="2788920" cy="425196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87968" y="1874519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F7FAFC"/>
                </a:solidFill>
                <a:latin typeface="Segoe UI"/>
              </a:rPr>
              <a:t>Результат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2468880"/>
            <a:ext cx="2148840" cy="96012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0" y="2633472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46F0C2"/>
                </a:solidFill>
                <a:latin typeface="Segoe UI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5712" y="3182112"/>
            <a:ext cx="1819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Segoe UI"/>
              </a:rPr>
              <a:t>длина пути ИС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3566160"/>
            <a:ext cx="2148840" cy="96012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0" y="3730752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Segoe U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4279392"/>
            <a:ext cx="1819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Segoe UI"/>
              </a:rPr>
              <a:t>длина Дейкстры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4663440"/>
            <a:ext cx="2148840" cy="96012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0" y="4828031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0D5FF"/>
                </a:solidFill>
                <a:latin typeface="Segoe UI"/>
              </a:rPr>
              <a:t>0.00%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2" y="5376672"/>
            <a:ext cx="1819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Segoe UI"/>
              </a:rPr>
              <a:t>отклонение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ЭКСПЕРИМЕНТЫ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7FAFC"/>
                </a:solidFill>
                <a:latin typeface="Segoe UI"/>
              </a:rPr>
              <a:t>Методика оценки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307592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FB3C8"/>
                </a:solidFill>
                <a:latin typeface="Segoe UI"/>
              </a:rPr>
              <a:t>Алгоритм проверялся на графах разной размерности и сравнивался с эталонным решением.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11480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7FAFC"/>
                </a:solidFill>
                <a:latin typeface="Segoe UI"/>
              </a:rPr>
              <a:t>Что измеряем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06040"/>
            <a:ext cx="4480560" cy="285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0D5FF"/>
                </a:solidFill>
                <a:latin typeface="Segoe UI"/>
              </a:defRPr>
            </a:pPr>
            <a:endParaRPr lang="en-US" dirty="0"/>
          </a:p>
          <a:p>
            <a:pPr>
              <a:spcAft>
                <a:spcPts val="800"/>
              </a:spcAft>
              <a:defRPr sz="1400" b="1">
                <a:solidFill>
                  <a:srgbClr val="00D5FF"/>
                </a:solidFill>
                <a:latin typeface="Segoe UI"/>
              </a:defRPr>
            </a:pPr>
            <a:r>
              <a:rPr dirty="0" err="1"/>
              <a:t>Время</a:t>
            </a:r>
            <a:r>
              <a:rPr dirty="0"/>
              <a:t> </a:t>
            </a:r>
            <a:r>
              <a:rPr dirty="0" err="1"/>
              <a:t>выполнения</a:t>
            </a:r>
            <a:endParaRPr dirty="0"/>
          </a:p>
          <a:p>
            <a:pPr>
              <a:spcAft>
                <a:spcPts val="800"/>
              </a:spcAft>
              <a:defRPr sz="1400" b="0">
                <a:solidFill>
                  <a:srgbClr val="9FB3C8"/>
                </a:solidFill>
                <a:latin typeface="Segoe UI"/>
              </a:defRPr>
            </a:pP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растёт</a:t>
            </a:r>
            <a:r>
              <a:rPr dirty="0"/>
              <a:t> </a:t>
            </a:r>
            <a:r>
              <a:rPr dirty="0" err="1"/>
              <a:t>время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увеличении</a:t>
            </a:r>
            <a:r>
              <a:rPr dirty="0"/>
              <a:t> </a:t>
            </a:r>
            <a:r>
              <a:rPr dirty="0" err="1"/>
              <a:t>графа</a:t>
            </a:r>
            <a:endParaRPr dirty="0"/>
          </a:p>
          <a:p>
            <a:pPr>
              <a:spcAft>
                <a:spcPts val="800"/>
              </a:spcAft>
              <a:defRPr sz="1400" b="1">
                <a:solidFill>
                  <a:srgbClr val="46F0C2"/>
                </a:solidFill>
                <a:latin typeface="Segoe UI"/>
              </a:defRPr>
            </a:pPr>
            <a:endParaRPr lang="en-US" dirty="0"/>
          </a:p>
          <a:p>
            <a:pPr>
              <a:spcAft>
                <a:spcPts val="800"/>
              </a:spcAft>
              <a:defRPr sz="1400" b="1">
                <a:solidFill>
                  <a:srgbClr val="46F0C2"/>
                </a:solidFill>
                <a:latin typeface="Segoe UI"/>
              </a:defRPr>
            </a:pPr>
            <a:r>
              <a:rPr dirty="0" err="1"/>
              <a:t>Качество</a:t>
            </a:r>
            <a:r>
              <a:rPr dirty="0"/>
              <a:t> </a:t>
            </a:r>
            <a:r>
              <a:rPr dirty="0" err="1"/>
              <a:t>решения</a:t>
            </a:r>
            <a:endParaRPr dirty="0"/>
          </a:p>
          <a:p>
            <a:pPr>
              <a:spcAft>
                <a:spcPts val="800"/>
              </a:spcAft>
              <a:defRPr sz="1400" b="0">
                <a:solidFill>
                  <a:srgbClr val="9FB3C8"/>
                </a:solidFill>
                <a:latin typeface="Segoe UI"/>
              </a:defRPr>
            </a:pPr>
            <a:r>
              <a:rPr dirty="0" err="1"/>
              <a:t>длина</a:t>
            </a:r>
            <a:r>
              <a:rPr dirty="0"/>
              <a:t> </a:t>
            </a:r>
            <a:r>
              <a:rPr dirty="0" err="1"/>
              <a:t>пути</a:t>
            </a:r>
            <a:r>
              <a:rPr dirty="0"/>
              <a:t> и </a:t>
            </a:r>
            <a:r>
              <a:rPr dirty="0" err="1"/>
              <a:t>отклонение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Дейкстры</a:t>
            </a:r>
            <a:endParaRPr dirty="0"/>
          </a:p>
          <a:p>
            <a:pPr>
              <a:spcAft>
                <a:spcPts val="800"/>
              </a:spcAft>
              <a:defRPr sz="1400" b="1">
                <a:solidFill>
                  <a:srgbClr val="8B5CF6"/>
                </a:solidFill>
                <a:latin typeface="Segoe UI"/>
              </a:defRPr>
            </a:pPr>
            <a:endParaRPr lang="en-US" dirty="0"/>
          </a:p>
          <a:p>
            <a:pPr>
              <a:spcAft>
                <a:spcPts val="800"/>
              </a:spcAft>
              <a:defRPr sz="1400" b="1">
                <a:solidFill>
                  <a:srgbClr val="8B5CF6"/>
                </a:solidFill>
                <a:latin typeface="Segoe UI"/>
              </a:defRPr>
            </a:pPr>
            <a:r>
              <a:rPr dirty="0" err="1"/>
              <a:t>Сходимость</a:t>
            </a:r>
            <a:endParaRPr dirty="0"/>
          </a:p>
          <a:p>
            <a:pPr>
              <a:spcAft>
                <a:spcPts val="800"/>
              </a:spcAft>
              <a:defRPr sz="1400" b="0">
                <a:solidFill>
                  <a:srgbClr val="9FB3C8"/>
                </a:solidFill>
                <a:latin typeface="Segoe UI"/>
              </a:defRPr>
            </a:pPr>
            <a:r>
              <a:rPr dirty="0" err="1"/>
              <a:t>значение</a:t>
            </a:r>
            <a:r>
              <a:rPr dirty="0"/>
              <a:t> </a:t>
            </a:r>
            <a:r>
              <a:rPr dirty="0" err="1"/>
              <a:t>целевой</a:t>
            </a:r>
            <a:r>
              <a:rPr dirty="0"/>
              <a:t> </a:t>
            </a:r>
            <a:r>
              <a:rPr dirty="0" err="1"/>
              <a:t>функции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итерациям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6400800" y="1737360"/>
            <a:ext cx="5074920" cy="411480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20116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7FAFC"/>
                </a:solidFill>
                <a:latin typeface="Segoe UI"/>
              </a:rPr>
              <a:t>Набор тестов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60604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0D5FF"/>
                </a:solidFill>
                <a:latin typeface="Segoe UI"/>
              </a:rP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60604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0D5FF"/>
                </a:solidFill>
                <a:latin typeface="Segoe UI"/>
              </a:rP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260604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0D5FF"/>
                </a:solidFill>
                <a:latin typeface="Segoe UI"/>
              </a:rPr>
              <a:t>итерации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97180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97180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297180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47472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47472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347472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977639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977639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3977639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448056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48056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448056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7FAFC"/>
                </a:solidFill>
                <a:latin typeface="Segoe UI"/>
              </a:rPr>
              <a:t>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525780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FB3C8"/>
                </a:solidFill>
                <a:latin typeface="Segoe UI"/>
              </a:rPr>
              <a:t>Каждый запуск сохраняет CSV и графики в папку results/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КАЧЕСТВО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dirty="0" err="1">
                <a:solidFill>
                  <a:srgbClr val="F7FAFC"/>
                </a:solidFill>
                <a:latin typeface="Segoe UI"/>
              </a:rPr>
              <a:t>Сравнение</a:t>
            </a:r>
            <a:r>
              <a:rPr sz="3000" b="1" dirty="0">
                <a:solidFill>
                  <a:srgbClr val="F7FAFC"/>
                </a:solidFill>
                <a:latin typeface="Segoe UI"/>
              </a:rPr>
              <a:t> с </a:t>
            </a:r>
            <a:r>
              <a:rPr sz="3000" b="1" dirty="0" err="1">
                <a:solidFill>
                  <a:srgbClr val="F7FAFC"/>
                </a:solidFill>
                <a:latin typeface="Segoe UI"/>
              </a:rPr>
              <a:t>эталонным</a:t>
            </a:r>
            <a:r>
              <a:rPr sz="3000" b="1" dirty="0">
                <a:solidFill>
                  <a:srgbClr val="F7FAFC"/>
                </a:solidFill>
                <a:latin typeface="Segoe UI"/>
              </a:rPr>
              <a:t> </a:t>
            </a:r>
            <a:r>
              <a:rPr sz="3000" b="1" dirty="0" err="1">
                <a:solidFill>
                  <a:srgbClr val="F7FAFC"/>
                </a:solidFill>
                <a:latin typeface="Segoe UI"/>
              </a:rPr>
              <a:t>решением</a:t>
            </a:r>
            <a:endParaRPr sz="3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1307592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FB3C8"/>
                </a:solidFill>
                <a:latin typeface="Segoe UI"/>
              </a:rPr>
              <a:t>Дейкстра используется как объективная нижняя граница для длины кратчайшего пути.</a:t>
            </a:r>
          </a:p>
        </p:txBody>
      </p:sp>
      <p:pic>
        <p:nvPicPr>
          <p:cNvPr id="6" name="Picture 5" descr="results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606" y="1856232"/>
            <a:ext cx="7853194" cy="3621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0120" y="5897880"/>
            <a:ext cx="10378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F7FAFC"/>
                </a:solidFill>
                <a:latin typeface="Segoe UI"/>
              </a:rPr>
              <a:t>Вывод: на тестовой серии ИС нашла решения, совпадающие с эталоном. Это подтверждает корректность адаптации иммунного подхода к задаче кратчайшего пути.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ПРОИЗВОДИТЕЛЬНОСТЬ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7FAFC"/>
                </a:solidFill>
                <a:latin typeface="Segoe UI"/>
              </a:rPr>
              <a:t>Время выполнения растёт контролируемо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08767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 err="1">
                <a:solidFill>
                  <a:srgbClr val="9FB3C8"/>
                </a:solidFill>
                <a:latin typeface="Segoe UI"/>
              </a:rPr>
              <a:t>График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показывает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зависимость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среднего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времени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работы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ИС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от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количества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вершин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.</a:t>
            </a:r>
          </a:p>
        </p:txBody>
      </p:sp>
      <p:pic>
        <p:nvPicPr>
          <p:cNvPr id="6" name="Picture 5" descr="chart_tim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68" y="2576384"/>
            <a:ext cx="5759897" cy="328047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76365" y="2431323"/>
            <a:ext cx="3683549" cy="361188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50686" y="2705643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F7FAFC"/>
                </a:solidFill>
                <a:latin typeface="Segoe UI"/>
              </a:rPr>
              <a:t>Интерпретация</a:t>
            </a:r>
            <a:endParaRPr sz="2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59830" y="3309147"/>
            <a:ext cx="3220912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9FB3C8"/>
                </a:solidFill>
                <a:latin typeface="Segoe UI"/>
              </a:defRPr>
            </a:pPr>
            <a:r>
              <a:rPr lang="ru-RU" dirty="0"/>
              <a:t>- </a:t>
            </a:r>
            <a:r>
              <a:rPr dirty="0" err="1"/>
              <a:t>увеличение</a:t>
            </a:r>
            <a:r>
              <a:rPr dirty="0"/>
              <a:t> </a:t>
            </a:r>
            <a:r>
              <a:rPr dirty="0" err="1"/>
              <a:t>размера</a:t>
            </a:r>
            <a:r>
              <a:rPr dirty="0"/>
              <a:t> </a:t>
            </a:r>
            <a:r>
              <a:rPr dirty="0" err="1"/>
              <a:t>графа</a:t>
            </a:r>
            <a:r>
              <a:rPr dirty="0"/>
              <a:t> </a:t>
            </a:r>
            <a:r>
              <a:rPr dirty="0" err="1"/>
              <a:t>повышает</a:t>
            </a:r>
            <a:r>
              <a:rPr dirty="0"/>
              <a:t> </a:t>
            </a:r>
            <a:r>
              <a:rPr dirty="0" err="1"/>
              <a:t>время</a:t>
            </a:r>
            <a:r>
              <a:rPr dirty="0"/>
              <a:t> </a:t>
            </a:r>
            <a:r>
              <a:rPr dirty="0" err="1"/>
              <a:t>работы</a:t>
            </a:r>
            <a:r>
              <a:rPr dirty="0"/>
              <a:t>;</a:t>
            </a:r>
          </a:p>
          <a:p>
            <a:pPr>
              <a:spcAft>
                <a:spcPts val="900"/>
              </a:spcAft>
              <a:defRPr sz="1300" b="0">
                <a:solidFill>
                  <a:srgbClr val="9FB3C8"/>
                </a:solidFill>
                <a:latin typeface="Segoe UI"/>
              </a:defRPr>
            </a:pPr>
            <a:r>
              <a:rPr lang="ru-RU" dirty="0"/>
              <a:t>- </a:t>
            </a:r>
            <a:r>
              <a:rPr dirty="0" err="1"/>
              <a:t>рост</a:t>
            </a:r>
            <a:r>
              <a:rPr dirty="0"/>
              <a:t> </a:t>
            </a:r>
            <a:r>
              <a:rPr dirty="0" err="1"/>
              <a:t>ожидаем</a:t>
            </a:r>
            <a:r>
              <a:rPr dirty="0"/>
              <a:t>, </a:t>
            </a:r>
            <a:r>
              <a:rPr dirty="0" err="1"/>
              <a:t>так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увеличиваются</a:t>
            </a:r>
            <a:r>
              <a:rPr dirty="0"/>
              <a:t> </a:t>
            </a:r>
            <a:r>
              <a:rPr dirty="0" err="1"/>
              <a:t>длина</a:t>
            </a:r>
            <a:r>
              <a:rPr dirty="0"/>
              <a:t> </a:t>
            </a:r>
            <a:r>
              <a:rPr dirty="0" err="1"/>
              <a:t>путей</a:t>
            </a:r>
            <a:r>
              <a:rPr dirty="0"/>
              <a:t> и </a:t>
            </a:r>
            <a:r>
              <a:rPr dirty="0" err="1"/>
              <a:t>пространство</a:t>
            </a:r>
            <a:r>
              <a:rPr dirty="0"/>
              <a:t> </a:t>
            </a:r>
            <a:r>
              <a:rPr dirty="0" err="1"/>
              <a:t>поиска</a:t>
            </a:r>
            <a:r>
              <a:rPr dirty="0"/>
              <a:t>;</a:t>
            </a:r>
          </a:p>
          <a:p>
            <a:pPr>
              <a:spcAft>
                <a:spcPts val="900"/>
              </a:spcAft>
              <a:defRPr sz="1300" b="0">
                <a:solidFill>
                  <a:srgbClr val="9FB3C8"/>
                </a:solidFill>
                <a:latin typeface="Segoe UI"/>
              </a:defRPr>
            </a:pPr>
            <a:r>
              <a:rPr lang="ru-RU" dirty="0"/>
              <a:t>-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учебной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 </a:t>
            </a:r>
            <a:r>
              <a:rPr dirty="0" err="1"/>
              <a:t>время</a:t>
            </a:r>
            <a:r>
              <a:rPr dirty="0"/>
              <a:t> </a:t>
            </a:r>
            <a:r>
              <a:rPr dirty="0" err="1"/>
              <a:t>остаётся</a:t>
            </a:r>
            <a:r>
              <a:rPr dirty="0"/>
              <a:t> </a:t>
            </a:r>
            <a:r>
              <a:rPr dirty="0" err="1"/>
              <a:t>приемлемым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59830" y="4957607"/>
            <a:ext cx="1560660" cy="704829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24918" y="5021823"/>
            <a:ext cx="1252726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dirty="0">
                <a:solidFill>
                  <a:srgbClr val="00D5FF"/>
                </a:solidFill>
                <a:latin typeface="Segoe UI"/>
              </a:rPr>
              <a:t>0.55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77644" y="5141437"/>
            <a:ext cx="20025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dirty="0" err="1">
                <a:solidFill>
                  <a:srgbClr val="9FB3C8"/>
                </a:solidFill>
                <a:latin typeface="Segoe UI"/>
              </a:rPr>
              <a:t>на</a:t>
            </a:r>
            <a:r>
              <a:rPr sz="12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9FB3C8"/>
                </a:solidFill>
                <a:latin typeface="Segoe UI"/>
              </a:rPr>
              <a:t>крупнейшем</a:t>
            </a:r>
            <a:r>
              <a:rPr sz="12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9FB3C8"/>
                </a:solidFill>
                <a:latin typeface="Segoe UI"/>
              </a:rPr>
              <a:t>тесте</a:t>
            </a:r>
            <a:endParaRPr sz="1200" b="0" dirty="0">
              <a:solidFill>
                <a:srgbClr val="9FB3C8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СХОДИМОСТЬ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7FAFC"/>
                </a:solidFill>
                <a:latin typeface="Segoe UI"/>
              </a:rPr>
              <a:t>Целевая функция по итерациям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307592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FB3C8"/>
                </a:solidFill>
                <a:latin typeface="Segoe UI"/>
              </a:rPr>
              <a:t>История лучшего решения показывает, как сеть постепенно приближается к кратчайшему пути.</a:t>
            </a:r>
          </a:p>
        </p:txBody>
      </p:sp>
      <p:pic>
        <p:nvPicPr>
          <p:cNvPr id="6" name="Picture 5" descr="chart_objectiv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365" y="2002536"/>
            <a:ext cx="6903720" cy="3931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37360"/>
            <a:ext cx="3246120" cy="361188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66760" y="20116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7FAFC"/>
                </a:solidFill>
                <a:latin typeface="Segoe UI"/>
              </a:rPr>
              <a:t>Что видно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2596896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00D5FF"/>
                </a:solidFill>
                <a:latin typeface="Segoe UI"/>
              </a:defRPr>
            </a:pPr>
            <a:r>
              <a:t>ранние итерации</a:t>
            </a:r>
          </a:p>
          <a:p>
            <a:pPr>
              <a:spcAft>
                <a:spcPts val="700"/>
              </a:spcAft>
              <a:defRPr sz="1300" b="0">
                <a:solidFill>
                  <a:srgbClr val="9FB3C8"/>
                </a:solidFill>
                <a:latin typeface="Segoe UI"/>
              </a:defRPr>
            </a:pPr>
            <a:r>
              <a:t>поиск разнообразных путей</a:t>
            </a:r>
          </a:p>
          <a:p>
            <a:pPr>
              <a:spcAft>
                <a:spcPts val="700"/>
              </a:spcAft>
              <a:defRPr sz="1300" b="1">
                <a:solidFill>
                  <a:srgbClr val="46F0C2"/>
                </a:solidFill>
                <a:latin typeface="Segoe UI"/>
              </a:defRPr>
            </a:pPr>
            <a:r>
              <a:t>середина</a:t>
            </a:r>
          </a:p>
          <a:p>
            <a:pPr>
              <a:spcAft>
                <a:spcPts val="700"/>
              </a:spcAft>
              <a:defRPr sz="1300" b="0">
                <a:solidFill>
                  <a:srgbClr val="9FB3C8"/>
                </a:solidFill>
                <a:latin typeface="Segoe UI"/>
              </a:defRPr>
            </a:pPr>
            <a:r>
              <a:t>улучшение через клоны и мутации</a:t>
            </a:r>
          </a:p>
          <a:p>
            <a:pPr>
              <a:spcAft>
                <a:spcPts val="7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финал</a:t>
            </a:r>
          </a:p>
          <a:p>
            <a:pPr>
              <a:spcAft>
                <a:spcPts val="700"/>
              </a:spcAft>
              <a:defRPr sz="1300" b="0">
                <a:solidFill>
                  <a:srgbClr val="9FB3C8"/>
                </a:solidFill>
                <a:latin typeface="Segoe UI"/>
              </a:defRPr>
            </a:pPr>
            <a:r>
              <a:t>стабилизация в иммунной памяти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ИНТЕГРАЦИЯ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ru-RU" sz="3000" b="1" dirty="0">
                <a:solidFill>
                  <a:srgbClr val="F7FAFC"/>
                </a:solidFill>
                <a:latin typeface="Segoe UI"/>
              </a:rPr>
              <a:t>Тут сравнение с ГА будет</a:t>
            </a:r>
            <a:endParaRPr sz="3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54548" y="1729946"/>
            <a:ext cx="5367775" cy="4173124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939027" y="1729946"/>
            <a:ext cx="5532121" cy="4077730"/>
          </a:xfrm>
          <a:prstGeom prst="roundRect">
            <a:avLst/>
          </a:prstGeom>
          <a:solidFill>
            <a:srgbClr val="17243C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5960" cy="310896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68096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dirty="0" err="1">
                <a:solidFill>
                  <a:srgbClr val="F7FAFC"/>
                </a:solidFill>
                <a:latin typeface="Segoe UI"/>
              </a:rPr>
              <a:t>Что</a:t>
            </a:r>
            <a:r>
              <a:rPr sz="3000" b="1" dirty="0">
                <a:solidFill>
                  <a:srgbClr val="F7FAFC"/>
                </a:solidFill>
                <a:latin typeface="Segoe UI"/>
              </a:rPr>
              <a:t> </a:t>
            </a:r>
            <a:r>
              <a:rPr sz="3000" b="1" dirty="0" err="1">
                <a:solidFill>
                  <a:srgbClr val="F7FAFC"/>
                </a:solidFill>
                <a:latin typeface="Segoe UI"/>
              </a:rPr>
              <a:t>доказала</a:t>
            </a:r>
            <a:r>
              <a:rPr sz="3000" b="1" dirty="0">
                <a:solidFill>
                  <a:srgbClr val="F7FAFC"/>
                </a:solidFill>
                <a:latin typeface="Segoe UI"/>
              </a:rPr>
              <a:t> </a:t>
            </a:r>
            <a:r>
              <a:rPr sz="3000" b="1" dirty="0" err="1">
                <a:solidFill>
                  <a:srgbClr val="F7FAFC"/>
                </a:solidFill>
                <a:latin typeface="Segoe UI"/>
              </a:rPr>
              <a:t>работа</a:t>
            </a:r>
            <a:endParaRPr sz="3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1307592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>
                <a:solidFill>
                  <a:srgbClr val="9FB3C8"/>
                </a:solidFill>
                <a:latin typeface="Segoe UI"/>
              </a:rPr>
              <a:t>ИС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успешно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адаптирована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к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задаче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кратчайшего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пути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и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показала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корректные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результаты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на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серии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FB3C8"/>
                </a:solidFill>
                <a:latin typeface="Segoe UI"/>
              </a:rPr>
              <a:t>графов</a:t>
            </a:r>
            <a:r>
              <a:rPr sz="1400" b="0" dirty="0">
                <a:solidFill>
                  <a:srgbClr val="9FB3C8"/>
                </a:solidFill>
                <a:latin typeface="Segoe U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5074920" cy="132588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33271" y="2093976"/>
            <a:ext cx="685800" cy="685800"/>
          </a:xfrm>
          <a:prstGeom prst="ellipse">
            <a:avLst/>
          </a:prstGeom>
          <a:solidFill>
            <a:srgbClr val="00D5FF"/>
          </a:solidFill>
          <a:ln w="15240"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7" y="2039112"/>
            <a:ext cx="3566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7FAFC"/>
                </a:solidFill>
                <a:latin typeface="Segoe UI"/>
              </a:rPr>
              <a:t>Модель ИС применима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2807" y="249631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FB3C8"/>
                </a:solidFill>
                <a:latin typeface="Segoe UI"/>
              </a:rPr>
              <a:t>путь естественно кодируется как антитело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783080"/>
            <a:ext cx="5074920" cy="132588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565392" y="2093976"/>
            <a:ext cx="685800" cy="685800"/>
          </a:xfrm>
          <a:prstGeom prst="ellipse">
            <a:avLst/>
          </a:prstGeom>
          <a:solidFill>
            <a:srgbClr val="46F0C2"/>
          </a:solidFill>
          <a:ln w="15240">
            <a:solidFill>
              <a:srgbClr val="46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7" y="2039112"/>
            <a:ext cx="3566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7FAFC"/>
                </a:solidFill>
                <a:latin typeface="Segoe UI"/>
              </a:rPr>
              <a:t>Качество проверяемо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7" y="249631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FB3C8"/>
                </a:solidFill>
                <a:latin typeface="Segoe UI"/>
              </a:rPr>
              <a:t>результаты сравниваются с Дейкстрой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11880"/>
            <a:ext cx="5074920" cy="132588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33271" y="3922776"/>
            <a:ext cx="685800" cy="685800"/>
          </a:xfrm>
          <a:prstGeom prst="ellipse">
            <a:avLst/>
          </a:prstGeom>
          <a:solidFill>
            <a:srgbClr val="00D5FF"/>
          </a:solidFill>
          <a:ln w="15240"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2807" y="3867912"/>
            <a:ext cx="3566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7FAFC"/>
                </a:solidFill>
                <a:latin typeface="Segoe UI"/>
              </a:rPr>
              <a:t>Есть визуальная часть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2807" y="432511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FB3C8"/>
                </a:solidFill>
                <a:latin typeface="Segoe UI"/>
              </a:rPr>
              <a:t>граф и найденный маршрут отображаются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3611880"/>
            <a:ext cx="5074920" cy="1325880"/>
          </a:xfrm>
          <a:prstGeom prst="roundRect">
            <a:avLst/>
          </a:prstGeom>
          <a:solidFill>
            <a:srgbClr val="111C2F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565392" y="3922776"/>
            <a:ext cx="685800" cy="685800"/>
          </a:xfrm>
          <a:prstGeom prst="ellipse">
            <a:avLst/>
          </a:prstGeom>
          <a:solidFill>
            <a:srgbClr val="46F0C2"/>
          </a:solidFill>
          <a:ln w="15240">
            <a:solidFill>
              <a:srgbClr val="46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11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3867912"/>
            <a:ext cx="3566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7FAFC"/>
                </a:solidFill>
                <a:latin typeface="Segoe UI"/>
              </a:rPr>
              <a:t>Проект сдаваемый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4927" y="4325112"/>
            <a:ext cx="36576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9FB3C8"/>
                </a:solidFill>
                <a:latin typeface="Segoe UI"/>
              </a:rPr>
              <a:t>код</a:t>
            </a:r>
            <a:r>
              <a:rPr sz="1300" b="0" dirty="0">
                <a:solidFill>
                  <a:srgbClr val="9FB3C8"/>
                </a:solidFill>
                <a:latin typeface="Segoe UI"/>
              </a:rPr>
              <a:t>, </a:t>
            </a:r>
            <a:r>
              <a:rPr sz="1300" b="0" dirty="0" err="1">
                <a:solidFill>
                  <a:srgbClr val="9FB3C8"/>
                </a:solidFill>
                <a:latin typeface="Segoe UI"/>
              </a:rPr>
              <a:t>графики</a:t>
            </a:r>
            <a:r>
              <a:rPr sz="1300" b="0" dirty="0">
                <a:solidFill>
                  <a:srgbClr val="9FB3C8"/>
                </a:solidFill>
                <a:latin typeface="Segoe UI"/>
              </a:rPr>
              <a:t>, </a:t>
            </a:r>
            <a:r>
              <a:rPr sz="1300" b="0" dirty="0" err="1">
                <a:solidFill>
                  <a:srgbClr val="9FB3C8"/>
                </a:solidFill>
                <a:latin typeface="Segoe UI"/>
              </a:rPr>
              <a:t>отчёт</a:t>
            </a:r>
            <a:r>
              <a:rPr sz="1300" b="0" dirty="0">
                <a:solidFill>
                  <a:srgbClr val="9FB3C8"/>
                </a:solidFill>
                <a:latin typeface="Segoe UI"/>
              </a:rPr>
              <a:t>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74452" y="1466253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ru-RU" sz="3000" b="1" dirty="0">
                <a:solidFill>
                  <a:srgbClr val="F7FAFC"/>
                </a:solidFill>
                <a:latin typeface="Segoe UI"/>
              </a:rPr>
              <a:t>Тут может ещё что-то вставлю</a:t>
            </a:r>
            <a:endParaRPr sz="3000" b="1" dirty="0">
              <a:solidFill>
                <a:srgbClr val="F7FAFC"/>
              </a:solidFill>
              <a:latin typeface="Segoe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75735" y="265176"/>
            <a:ext cx="2971800" cy="347472"/>
          </a:xfrm>
          <a:prstGeom prst="roundRect">
            <a:avLst/>
          </a:prstGeom>
          <a:solidFill>
            <a:srgbClr val="00D5FF"/>
          </a:solidFill>
          <a:ln>
            <a:solidFill>
              <a:srgbClr val="00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11F"/>
                </a:solidFill>
                <a:latin typeface="Segoe UI"/>
              </a:defRPr>
            </a:pPr>
            <a:r>
              <a:rPr dirty="0"/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FB3C8"/>
                </a:solidFill>
                <a:latin typeface="Segoe UI"/>
              </a:rPr>
              <a:t>Сидоренко Максим · Вариант 3 · Искусственная иммунная сеть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2823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00D5FF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847</Words>
  <Application>Microsoft Office PowerPoint</Application>
  <PresentationFormat>Широкоэкранный</PresentationFormat>
  <Paragraphs>223</Paragraphs>
  <Slides>15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Arial</vt:lpstr>
      <vt:lpstr>Calibri</vt:lpstr>
      <vt:lpstr>Segoe UI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Искусственная иммунная сеть для поиска кратчайшего пути</dc:title>
  <dc:subject>Генетические алгоритмы и иммунные системы</dc:subject>
  <dc:creator>Сидоренко Максим</dc:creator>
  <cp:keywords/>
  <dc:description>generated using python-pptx</dc:description>
  <cp:lastModifiedBy>Максим Сидоренко</cp:lastModifiedBy>
  <cp:revision>18</cp:revision>
  <dcterms:created xsi:type="dcterms:W3CDTF">2013-01-27T09:14:16Z</dcterms:created>
  <dcterms:modified xsi:type="dcterms:W3CDTF">2026-06-08T07:08:41Z</dcterms:modified>
  <cp:category/>
</cp:coreProperties>
</file>